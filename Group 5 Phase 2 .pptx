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74" r:id="rId4"/>
    <p:sldId id="258" r:id="rId5"/>
    <p:sldId id="259" r:id="rId6"/>
    <p:sldId id="260" r:id="rId7"/>
    <p:sldId id="261" r:id="rId8"/>
    <p:sldId id="262" r:id="rId9"/>
    <p:sldId id="263" r:id="rId10"/>
    <p:sldId id="264" r:id="rId11"/>
    <p:sldId id="272" r:id="rId12"/>
    <p:sldId id="266" r:id="rId13"/>
    <p:sldId id="267" r:id="rId14"/>
    <p:sldId id="268" r:id="rId15"/>
    <p:sldId id="269" r:id="rId16"/>
    <p:sldId id="270" r:id="rId17"/>
    <p:sldId id="271" r:id="rId18"/>
    <p:sldId id="273" r:id="rId19"/>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E74D35D0-8A91-FB16-6CE8-C2147EB2115B}" name="Atul Biju" initials="AB" userId="5691610f8ef397e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3242638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2" name="Body Level One…"/>
          <p:cNvSpPr txBox="1">
            <a:spLocks noGrp="1"/>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722312" y="4406900"/>
            <a:ext cx="7772401" cy="1362075"/>
          </a:xfrm>
          <a:prstGeom prst="rect">
            <a:avLst/>
          </a:prstGeom>
        </p:spPr>
        <p:txBody>
          <a:bodyPr anchor="t"/>
          <a:lstStyle>
            <a:lvl1pPr algn="l">
              <a:defRPr sz="4000" b="1" cap="all"/>
            </a:lvl1pPr>
          </a:lstStyle>
          <a:p>
            <a:r>
              <a:t>Title Text</a:t>
            </a:r>
          </a:p>
        </p:txBody>
      </p:sp>
      <p:sp>
        <p:nvSpPr>
          <p:cNvPr id="30" name="Body Level One…"/>
          <p:cNvSpPr txBox="1">
            <a:spLocks noGrp="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prstGeom prst="rect">
            <a:avLst/>
          </a:prstGeom>
        </p:spPr>
        <p:txBody>
          <a:bodyPr/>
          <a:lstStyle/>
          <a:p>
            <a:r>
              <a:t>Title Text</a:t>
            </a:r>
          </a:p>
        </p:txBody>
      </p:sp>
      <p:sp>
        <p:nvSpPr>
          <p:cNvPr id="48" name="Body Level One…"/>
          <p:cNvSpPr txBox="1">
            <a:spLocks noGrp="1"/>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457200" y="273050"/>
            <a:ext cx="3008314" cy="1162050"/>
          </a:xfrm>
          <a:prstGeom prst="rect">
            <a:avLst/>
          </a:prstGeom>
        </p:spPr>
        <p:txBody>
          <a:bodyPr anchor="b"/>
          <a:lstStyle>
            <a:lvl1pPr algn="l">
              <a:defRPr sz="2000" b="1"/>
            </a:lvl1pPr>
          </a:lstStyle>
          <a:p>
            <a:r>
              <a:t>Title Text</a:t>
            </a:r>
          </a:p>
        </p:txBody>
      </p:sp>
      <p:sp>
        <p:nvSpPr>
          <p:cNvPr id="73" name="Body Level One…"/>
          <p:cNvSpPr txBox="1">
            <a:spLocks noGrp="1"/>
          </p:cNvSpPr>
          <p:nvPr>
            <p:ph type="body"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half" idx="21"/>
          </p:nvPr>
        </p:nvSpPr>
        <p:spPr>
          <a:xfrm>
            <a:off x="457199" y="1435100"/>
            <a:ext cx="3008315" cy="4691063"/>
          </a:xfrm>
          <a:prstGeom prst="rect">
            <a:avLst/>
          </a:prstGeom>
        </p:spPr>
        <p:txBody>
          <a:bodyPr/>
          <a:lstStyle/>
          <a:p>
            <a:pPr marL="0" indent="0">
              <a:spcBef>
                <a:spcPts val="300"/>
              </a:spcBef>
              <a:buSzTx/>
              <a:buFontTx/>
              <a:buNone/>
              <a:defRPr sz="14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1792288" y="4800600"/>
            <a:ext cx="5486401" cy="566738"/>
          </a:xfrm>
          <a:prstGeom prst="rect">
            <a:avLst/>
          </a:prstGeom>
        </p:spPr>
        <p:txBody>
          <a:bodyPr anchor="b"/>
          <a:lstStyle>
            <a:lvl1pPr algn="l">
              <a:defRPr sz="2000" b="1"/>
            </a:lvl1pPr>
          </a:lstStyle>
          <a:p>
            <a:r>
              <a:t>Title Text</a:t>
            </a:r>
          </a:p>
        </p:txBody>
      </p:sp>
      <p:sp>
        <p:nvSpPr>
          <p:cNvPr id="83" name="Picture Placeholder 2"/>
          <p:cNvSpPr>
            <a:spLocks noGrp="1"/>
          </p:cNvSpPr>
          <p:nvPr>
            <p:ph type="pic" sz="half" idx="21"/>
          </p:nvPr>
        </p:nvSpPr>
        <p:spPr>
          <a:xfrm>
            <a:off x="1792288" y="612775"/>
            <a:ext cx="5486401" cy="4114800"/>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274638"/>
            <a:ext cx="8229600" cy="114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1pPr>
      <a:lvl2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2pPr>
      <a:lvl3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3pPr>
      <a:lvl4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4pPr>
      <a:lvl5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5pPr>
      <a:lvl6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6pPr>
      <a:lvl7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7pPr>
      <a:lvl8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8pPr>
      <a:lvl9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itle 1"/>
          <p:cNvSpPr txBox="1">
            <a:spLocks noGrp="1"/>
          </p:cNvSpPr>
          <p:nvPr>
            <p:ph type="ctrTitle"/>
          </p:nvPr>
        </p:nvSpPr>
        <p:spPr>
          <a:xfrm>
            <a:off x="685800" y="2304833"/>
            <a:ext cx="7772401" cy="1470026"/>
          </a:xfrm>
          <a:prstGeom prst="rect">
            <a:avLst/>
          </a:prstGeom>
        </p:spPr>
        <p:txBody>
          <a:bodyPr/>
          <a:lstStyle/>
          <a:p>
            <a:r>
              <a:rPr dirty="0"/>
              <a:t>Phase</a:t>
            </a:r>
            <a:r>
              <a:rPr lang="en-IN" dirty="0"/>
              <a:t> - 2</a:t>
            </a:r>
            <a:r>
              <a:rPr dirty="0"/>
              <a:t> Mini Project Presentation</a:t>
            </a:r>
          </a:p>
        </p:txBody>
      </p:sp>
      <p:sp>
        <p:nvSpPr>
          <p:cNvPr id="95" name="Subtitle 2"/>
          <p:cNvSpPr txBox="1">
            <a:spLocks noGrp="1"/>
          </p:cNvSpPr>
          <p:nvPr>
            <p:ph type="subTitle" sz="quarter" idx="1"/>
          </p:nvPr>
        </p:nvSpPr>
        <p:spPr>
          <a:xfrm>
            <a:off x="1214628" y="4606146"/>
            <a:ext cx="6975987" cy="1752600"/>
          </a:xfrm>
          <a:prstGeom prst="rect">
            <a:avLst/>
          </a:prstGeom>
        </p:spPr>
        <p:txBody>
          <a:bodyPr/>
          <a:lstStyle/>
          <a:p>
            <a:r>
              <a:t>S6 CSE-AI (2023-27 batch)</a:t>
            </a:r>
          </a:p>
          <a:p>
            <a:r>
              <a:rPr sz="2400"/>
              <a:t>Adi Shankara Institute of Engineering and Technology</a:t>
            </a:r>
          </a:p>
        </p:txBody>
      </p:sp>
      <p:sp>
        <p:nvSpPr>
          <p:cNvPr id="96" name="Rectangle 3"/>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97" name="Picture 4" descr="Picture 4"/>
          <p:cNvPicPr>
            <a:picLocks noChangeAspect="1"/>
          </p:cNvPicPr>
          <p:nvPr/>
        </p:nvPicPr>
        <p:blipFill>
          <a:blip r:embed="rId2"/>
          <a:stretch>
            <a:fillRect/>
          </a:stretch>
        </p:blipFill>
        <p:spPr>
          <a:xfrm>
            <a:off x="7232231" y="-22861"/>
            <a:ext cx="1916769" cy="411482"/>
          </a:xfrm>
          <a:prstGeom prst="rect">
            <a:avLst/>
          </a:prstGeom>
          <a:ln w="12700">
            <a:miter lim="400000"/>
          </a:ln>
        </p:spPr>
      </p:pic>
      <p:sp>
        <p:nvSpPr>
          <p:cNvPr id="98" name="Text"/>
          <p:cNvSpPr txBox="1"/>
          <p:nvPr/>
        </p:nvSpPr>
        <p:spPr>
          <a:xfrm>
            <a:off x="1010836" y="499254"/>
            <a:ext cx="7122328" cy="1876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endParaRPr/>
          </a:p>
        </p:txBody>
      </p:sp>
      <p:pic>
        <p:nvPicPr>
          <p:cNvPr id="99" name="unknown.jpg" descr="unknown.jpg"/>
          <p:cNvPicPr>
            <a:picLocks noChangeAspect="1"/>
          </p:cNvPicPr>
          <p:nvPr/>
        </p:nvPicPr>
        <p:blipFill>
          <a:blip r:embed="rId3"/>
          <a:stretch>
            <a:fillRect/>
          </a:stretch>
        </p:blipFill>
        <p:spPr>
          <a:xfrm>
            <a:off x="1010836" y="499254"/>
            <a:ext cx="7030761" cy="1728396"/>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1"/>
          <p:cNvSpPr txBox="1">
            <a:spLocks noGrp="1"/>
          </p:cNvSpPr>
          <p:nvPr>
            <p:ph type="title"/>
          </p:nvPr>
        </p:nvSpPr>
        <p:spPr>
          <a:prstGeom prst="rect">
            <a:avLst/>
          </a:prstGeom>
        </p:spPr>
        <p:txBody>
          <a:bodyPr>
            <a:normAutofit/>
          </a:bodyPr>
          <a:lstStyle/>
          <a:p>
            <a:r>
              <a:rPr sz="4000" b="1"/>
              <a:t>Project Title &amp; Team</a:t>
            </a:r>
          </a:p>
        </p:txBody>
      </p:sp>
      <p:sp>
        <p:nvSpPr>
          <p:cNvPr id="102" name="Content Placeholder 2"/>
          <p:cNvSpPr txBox="1">
            <a:spLocks noGrp="1"/>
          </p:cNvSpPr>
          <p:nvPr>
            <p:ph type="body" idx="1"/>
          </p:nvPr>
        </p:nvSpPr>
        <p:spPr>
          <a:xfrm>
            <a:off x="457200" y="1600200"/>
            <a:ext cx="8229600" cy="4525963"/>
          </a:xfrm>
          <a:prstGeom prst="rect">
            <a:avLst/>
          </a:prstGeom>
        </p:spPr>
        <p:txBody>
          <a:bodyPr>
            <a:normAutofit/>
          </a:bodyPr>
          <a:lstStyle/>
          <a:p>
            <a:pPr marL="0" indent="0">
              <a:spcBef>
                <a:spcPts val="300"/>
              </a:spcBef>
              <a:buNone/>
            </a:pPr>
            <a:r>
              <a:rPr lang="en-IN" sz="2400" dirty="0"/>
              <a:t>Project Title :- </a:t>
            </a:r>
            <a:r>
              <a:rPr lang="en-GB" sz="2400" dirty="0"/>
              <a:t>Efficient Code Refactoring using Distilled BDH</a:t>
            </a:r>
          </a:p>
          <a:p>
            <a:pPr marL="0" indent="0">
              <a:spcBef>
                <a:spcPts val="300"/>
              </a:spcBef>
              <a:buNone/>
            </a:pPr>
            <a:r>
              <a:rPr lang="en-GB" sz="2400" dirty="0"/>
              <a:t>             			Architecture</a:t>
            </a:r>
            <a:endParaRPr lang="en-IN" sz="2400" dirty="0"/>
          </a:p>
          <a:p>
            <a:pPr marL="0" indent="0">
              <a:spcBef>
                <a:spcPts val="300"/>
              </a:spcBef>
              <a:buNone/>
            </a:pPr>
            <a:r>
              <a:rPr lang="en-IN" sz="2400" dirty="0"/>
              <a:t>Team Guide :- Miss Madhu Priya</a:t>
            </a:r>
          </a:p>
          <a:p>
            <a:pPr marL="0" indent="0">
              <a:spcBef>
                <a:spcPts val="300"/>
              </a:spcBef>
              <a:buNone/>
            </a:pPr>
            <a:endParaRPr lang="en-IN" sz="2400" dirty="0"/>
          </a:p>
          <a:p>
            <a:pPr marL="0" indent="0">
              <a:spcBef>
                <a:spcPts val="300"/>
              </a:spcBef>
              <a:buNone/>
            </a:pPr>
            <a:endParaRPr lang="en-IN" sz="2400" dirty="0"/>
          </a:p>
        </p:txBody>
      </p:sp>
      <p:sp>
        <p:nvSpPr>
          <p:cNvPr id="103" name="Rectangle 3"/>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04" name="Picture 4" descr="Picture 4"/>
          <p:cNvPicPr>
            <a:picLocks noChangeAspect="1"/>
          </p:cNvPicPr>
          <p:nvPr/>
        </p:nvPicPr>
        <p:blipFill>
          <a:blip r:embed="rId2"/>
          <a:stretch>
            <a:fillRect/>
          </a:stretch>
        </p:blipFill>
        <p:spPr>
          <a:xfrm>
            <a:off x="7232231" y="-22861"/>
            <a:ext cx="1916769" cy="411482"/>
          </a:xfrm>
          <a:prstGeom prst="rect">
            <a:avLst/>
          </a:prstGeom>
          <a:ln w="12700">
            <a:miter lim="400000"/>
          </a:ln>
        </p:spPr>
      </p:pic>
      <p:graphicFrame>
        <p:nvGraphicFramePr>
          <p:cNvPr id="2" name="Table 1">
            <a:extLst>
              <a:ext uri="{FF2B5EF4-FFF2-40B4-BE49-F238E27FC236}">
                <a16:creationId xmlns:a16="http://schemas.microsoft.com/office/drawing/2014/main" id="{8C0C497E-0E7E-8F55-0E39-FA032D07F758}"/>
              </a:ext>
            </a:extLst>
          </p:cNvPr>
          <p:cNvGraphicFramePr>
            <a:graphicFrameLocks noGrp="1"/>
          </p:cNvGraphicFramePr>
          <p:nvPr>
            <p:extLst>
              <p:ext uri="{D42A27DB-BD31-4B8C-83A1-F6EECF244321}">
                <p14:modId xmlns:p14="http://schemas.microsoft.com/office/powerpoint/2010/main" val="780702951"/>
              </p:ext>
            </p:extLst>
          </p:nvPr>
        </p:nvGraphicFramePr>
        <p:xfrm>
          <a:off x="457200" y="3155230"/>
          <a:ext cx="8229600" cy="2466323"/>
        </p:xfrm>
        <a:graphic>
          <a:graphicData uri="http://schemas.openxmlformats.org/drawingml/2006/table">
            <a:tbl>
              <a:tblPr bandRow="1">
                <a:effectLst>
                  <a:outerShdw blurRad="50800" dist="38100" dir="5400000" algn="t" rotWithShape="0">
                    <a:prstClr val="black">
                      <a:alpha val="27000"/>
                    </a:prstClr>
                  </a:outerShdw>
                </a:effectLst>
                <a:tableStyleId>{5940675A-B579-460E-94D1-54222C63F5DA}</a:tableStyleId>
              </a:tblPr>
              <a:tblGrid>
                <a:gridCol w="1371600">
                  <a:extLst>
                    <a:ext uri="{9D8B030D-6E8A-4147-A177-3AD203B41FA5}">
                      <a16:colId xmlns:a16="http://schemas.microsoft.com/office/drawing/2014/main" val="2117361064"/>
                    </a:ext>
                  </a:extLst>
                </a:gridCol>
                <a:gridCol w="1371600">
                  <a:extLst>
                    <a:ext uri="{9D8B030D-6E8A-4147-A177-3AD203B41FA5}">
                      <a16:colId xmlns:a16="http://schemas.microsoft.com/office/drawing/2014/main" val="332544394"/>
                    </a:ext>
                  </a:extLst>
                </a:gridCol>
                <a:gridCol w="1371600">
                  <a:extLst>
                    <a:ext uri="{9D8B030D-6E8A-4147-A177-3AD203B41FA5}">
                      <a16:colId xmlns:a16="http://schemas.microsoft.com/office/drawing/2014/main" val="3677090539"/>
                    </a:ext>
                  </a:extLst>
                </a:gridCol>
                <a:gridCol w="1371600">
                  <a:extLst>
                    <a:ext uri="{9D8B030D-6E8A-4147-A177-3AD203B41FA5}">
                      <a16:colId xmlns:a16="http://schemas.microsoft.com/office/drawing/2014/main" val="1181799310"/>
                    </a:ext>
                  </a:extLst>
                </a:gridCol>
                <a:gridCol w="1371600">
                  <a:extLst>
                    <a:ext uri="{9D8B030D-6E8A-4147-A177-3AD203B41FA5}">
                      <a16:colId xmlns:a16="http://schemas.microsoft.com/office/drawing/2014/main" val="1763743955"/>
                    </a:ext>
                  </a:extLst>
                </a:gridCol>
                <a:gridCol w="1371600">
                  <a:extLst>
                    <a:ext uri="{9D8B030D-6E8A-4147-A177-3AD203B41FA5}">
                      <a16:colId xmlns:a16="http://schemas.microsoft.com/office/drawing/2014/main" val="3793307352"/>
                    </a:ext>
                  </a:extLst>
                </a:gridCol>
              </a:tblGrid>
              <a:tr h="516890">
                <a:tc>
                  <a:txBody>
                    <a:bodyPr/>
                    <a:lstStyle/>
                    <a:p>
                      <a:pPr>
                        <a:lnSpc>
                          <a:spcPct val="115000"/>
                        </a:lnSpc>
                        <a:spcAft>
                          <a:spcPts val="1000"/>
                        </a:spcAft>
                        <a:buNone/>
                      </a:pPr>
                      <a:r>
                        <a:rPr lang="en-IN" sz="2000">
                          <a:effectLst/>
                        </a:rPr>
                        <a:t>GROUP NO:</a:t>
                      </a:r>
                      <a:endParaRPr lang="en-IN" sz="1400">
                        <a:effectLst/>
                        <a:latin typeface="Calibri" panose="020F0502020204030204" pitchFamily="34" charset="0"/>
                        <a:ea typeface="Calibri" panose="020F0502020204030204" pitchFamily="34" charset="0"/>
                      </a:endParaRPr>
                    </a:p>
                  </a:txBody>
                  <a:tcPr marL="68580" marR="68580" marT="0" marB="0" anchor="ctr">
                    <a:solidFill>
                      <a:schemeClr val="bg1">
                        <a:lumMod val="95000"/>
                      </a:schemeClr>
                    </a:solidFill>
                  </a:tcPr>
                </a:tc>
                <a:tc>
                  <a:txBody>
                    <a:bodyPr/>
                    <a:lstStyle/>
                    <a:p>
                      <a:pPr>
                        <a:lnSpc>
                          <a:spcPct val="115000"/>
                        </a:lnSpc>
                        <a:spcAft>
                          <a:spcPts val="1000"/>
                        </a:spcAft>
                        <a:buNone/>
                      </a:pPr>
                      <a:r>
                        <a:rPr lang="en-IN" sz="2000">
                          <a:effectLst/>
                        </a:rPr>
                        <a:t>5</a:t>
                      </a:r>
                      <a:endParaRPr lang="en-IN" sz="14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15000"/>
                        </a:lnSpc>
                        <a:spcAft>
                          <a:spcPts val="1000"/>
                        </a:spcAft>
                        <a:buNone/>
                      </a:pPr>
                      <a:r>
                        <a:rPr lang="en-IN" sz="2000" dirty="0">
                          <a:effectLst/>
                        </a:rPr>
                        <a:t>MEMBER 1</a:t>
                      </a:r>
                      <a:endParaRPr lang="en-IN" sz="1400" dirty="0">
                        <a:effectLst/>
                        <a:latin typeface="Calibri" panose="020F0502020204030204" pitchFamily="34" charset="0"/>
                        <a:ea typeface="Calibri" panose="020F0502020204030204" pitchFamily="34" charset="0"/>
                      </a:endParaRPr>
                    </a:p>
                  </a:txBody>
                  <a:tcPr marL="68580" marR="68580" marT="0" marB="0" anchor="ctr">
                    <a:solidFill>
                      <a:schemeClr val="bg1">
                        <a:lumMod val="95000"/>
                      </a:schemeClr>
                    </a:solidFill>
                  </a:tcPr>
                </a:tc>
                <a:tc>
                  <a:txBody>
                    <a:bodyPr/>
                    <a:lstStyle/>
                    <a:p>
                      <a:pPr algn="ctr">
                        <a:lnSpc>
                          <a:spcPct val="115000"/>
                        </a:lnSpc>
                        <a:spcAft>
                          <a:spcPts val="1000"/>
                        </a:spcAft>
                        <a:buNone/>
                      </a:pPr>
                      <a:r>
                        <a:rPr lang="en-IN" sz="2000">
                          <a:effectLst/>
                        </a:rPr>
                        <a:t>MEMBER 2</a:t>
                      </a:r>
                      <a:endParaRPr lang="en-IN" sz="1400">
                        <a:effectLst/>
                        <a:latin typeface="Calibri" panose="020F0502020204030204" pitchFamily="34" charset="0"/>
                        <a:ea typeface="Calibri" panose="020F0502020204030204" pitchFamily="34" charset="0"/>
                      </a:endParaRPr>
                    </a:p>
                  </a:txBody>
                  <a:tcPr marL="68580" marR="68580" marT="0" marB="0" anchor="ctr">
                    <a:solidFill>
                      <a:schemeClr val="bg1">
                        <a:lumMod val="95000"/>
                      </a:schemeClr>
                    </a:solidFill>
                  </a:tcPr>
                </a:tc>
                <a:tc>
                  <a:txBody>
                    <a:bodyPr/>
                    <a:lstStyle/>
                    <a:p>
                      <a:pPr algn="ctr">
                        <a:lnSpc>
                          <a:spcPct val="115000"/>
                        </a:lnSpc>
                        <a:spcAft>
                          <a:spcPts val="1000"/>
                        </a:spcAft>
                        <a:buNone/>
                      </a:pPr>
                      <a:r>
                        <a:rPr lang="en-IN" sz="2000">
                          <a:effectLst/>
                        </a:rPr>
                        <a:t>MEMBER 3</a:t>
                      </a:r>
                      <a:endParaRPr lang="en-IN" sz="1400">
                        <a:effectLst/>
                        <a:latin typeface="Calibri" panose="020F0502020204030204" pitchFamily="34" charset="0"/>
                        <a:ea typeface="Calibri" panose="020F0502020204030204" pitchFamily="34" charset="0"/>
                      </a:endParaRPr>
                    </a:p>
                  </a:txBody>
                  <a:tcPr marL="68580" marR="68580" marT="0" marB="0" anchor="ctr">
                    <a:solidFill>
                      <a:schemeClr val="bg1">
                        <a:lumMod val="95000"/>
                      </a:schemeClr>
                    </a:solidFill>
                  </a:tcPr>
                </a:tc>
                <a:tc>
                  <a:txBody>
                    <a:bodyPr/>
                    <a:lstStyle/>
                    <a:p>
                      <a:pPr algn="ctr">
                        <a:lnSpc>
                          <a:spcPct val="115000"/>
                        </a:lnSpc>
                        <a:spcAft>
                          <a:spcPts val="1000"/>
                        </a:spcAft>
                        <a:buNone/>
                      </a:pPr>
                      <a:r>
                        <a:rPr lang="en-IN" sz="2000">
                          <a:effectLst/>
                        </a:rPr>
                        <a:t>MEMBER 4</a:t>
                      </a:r>
                      <a:endParaRPr lang="en-IN" sz="1400">
                        <a:effectLst/>
                        <a:latin typeface="Calibri" panose="020F0502020204030204" pitchFamily="34" charset="0"/>
                        <a:ea typeface="Calibri" panose="020F0502020204030204" pitchFamily="34" charset="0"/>
                      </a:endParaRPr>
                    </a:p>
                  </a:txBody>
                  <a:tcPr marL="68580" marR="68580" marT="0" marB="0" anchor="ctr">
                    <a:solidFill>
                      <a:schemeClr val="bg1">
                        <a:lumMod val="95000"/>
                      </a:schemeClr>
                    </a:solidFill>
                  </a:tcPr>
                </a:tc>
                <a:extLst>
                  <a:ext uri="{0D108BD9-81ED-4DB2-BD59-A6C34878D82A}">
                    <a16:rowId xmlns:a16="http://schemas.microsoft.com/office/drawing/2014/main" val="417239864"/>
                  </a:ext>
                </a:extLst>
              </a:tr>
              <a:tr h="408460">
                <a:tc gridSpan="2">
                  <a:txBody>
                    <a:bodyPr/>
                    <a:lstStyle/>
                    <a:p>
                      <a:pPr algn="ctr">
                        <a:lnSpc>
                          <a:spcPct val="115000"/>
                        </a:lnSpc>
                        <a:spcAft>
                          <a:spcPts val="1000"/>
                        </a:spcAft>
                        <a:buNone/>
                      </a:pPr>
                      <a:r>
                        <a:rPr lang="en-IN" sz="2000">
                          <a:effectLst/>
                        </a:rPr>
                        <a:t>NAME</a:t>
                      </a:r>
                      <a:endParaRPr lang="en-IN" sz="1400">
                        <a:effectLst/>
                        <a:latin typeface="Calibri" panose="020F0502020204030204" pitchFamily="34" charset="0"/>
                        <a:ea typeface="Calibri" panose="020F0502020204030204" pitchFamily="34" charset="0"/>
                      </a:endParaRPr>
                    </a:p>
                  </a:txBody>
                  <a:tcPr marL="68580" marR="68580" marT="0" marB="0" anchor="ctr">
                    <a:solidFill>
                      <a:schemeClr val="bg1">
                        <a:lumMod val="95000"/>
                      </a:schemeClr>
                    </a:solidFill>
                  </a:tcPr>
                </a:tc>
                <a:tc hMerge="1">
                  <a:txBody>
                    <a:bodyPr/>
                    <a:lstStyle/>
                    <a:p>
                      <a:endParaRPr lang="en-IN"/>
                    </a:p>
                  </a:txBody>
                  <a:tcPr/>
                </a:tc>
                <a:tc>
                  <a:txBody>
                    <a:bodyPr/>
                    <a:lstStyle/>
                    <a:p>
                      <a:pPr algn="ctr">
                        <a:lnSpc>
                          <a:spcPct val="115000"/>
                        </a:lnSpc>
                        <a:spcAft>
                          <a:spcPts val="1000"/>
                        </a:spcAft>
                        <a:buNone/>
                      </a:pPr>
                      <a:r>
                        <a:rPr lang="en-IN" sz="2000" dirty="0">
                          <a:effectLst/>
                        </a:rPr>
                        <a:t>Fathima P  </a:t>
                      </a:r>
                      <a:r>
                        <a:rPr lang="en-IN" sz="2000" dirty="0" err="1">
                          <a:effectLst/>
                        </a:rPr>
                        <a:t>Ajvad</a:t>
                      </a:r>
                      <a:endParaRPr lang="en-IN" sz="1400" dirty="0">
                        <a:effectLst/>
                        <a:latin typeface="Calibri"/>
                        <a:ea typeface="Calibri"/>
                      </a:endParaRPr>
                    </a:p>
                  </a:txBody>
                  <a:tcPr marL="68580" marR="68580" marT="0" marB="0" anchor="ctr"/>
                </a:tc>
                <a:tc>
                  <a:txBody>
                    <a:bodyPr/>
                    <a:lstStyle/>
                    <a:p>
                      <a:pPr algn="ctr">
                        <a:lnSpc>
                          <a:spcPct val="115000"/>
                        </a:lnSpc>
                        <a:spcAft>
                          <a:spcPts val="1000"/>
                        </a:spcAft>
                        <a:buNone/>
                      </a:pPr>
                      <a:r>
                        <a:rPr lang="en-IN" sz="2000" dirty="0">
                          <a:effectLst/>
                        </a:rPr>
                        <a:t>Zayed Bin Hassan</a:t>
                      </a:r>
                      <a:endParaRPr lang="en-IN" sz="1400" dirty="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15000"/>
                        </a:lnSpc>
                        <a:spcAft>
                          <a:spcPts val="1000"/>
                        </a:spcAft>
                        <a:buNone/>
                      </a:pPr>
                      <a:r>
                        <a:rPr lang="en-IN" sz="2000" dirty="0">
                          <a:effectLst/>
                        </a:rPr>
                        <a:t>Atul Biju</a:t>
                      </a:r>
                      <a:endParaRPr lang="en-IN" sz="1400" dirty="0">
                        <a:effectLst/>
                        <a:latin typeface="Calibri" panose="020F0502020204030204" pitchFamily="34" charset="0"/>
                        <a:ea typeface="Calibri" panose="020F0502020204030204" pitchFamily="34" charset="0"/>
                      </a:endParaRPr>
                    </a:p>
                  </a:txBody>
                  <a:tcPr marL="68580" marR="68580" marT="0" marB="0" anchor="ctr"/>
                </a:tc>
                <a:tc>
                  <a:txBody>
                    <a:bodyPr/>
                    <a:lstStyle/>
                    <a:p>
                      <a:pPr algn="ctr" rtl="1">
                        <a:lnSpc>
                          <a:spcPct val="115000"/>
                        </a:lnSpc>
                        <a:spcAft>
                          <a:spcPts val="1000"/>
                        </a:spcAft>
                        <a:buNone/>
                      </a:pPr>
                      <a:r>
                        <a:rPr lang="en-US" sz="2000" dirty="0">
                          <a:effectLst/>
                        </a:rPr>
                        <a:t>Sahil</a:t>
                      </a:r>
                      <a:endParaRPr lang="en-IN" sz="1400" dirty="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1767885649"/>
                  </a:ext>
                </a:extLst>
              </a:tr>
              <a:tr h="622537">
                <a:tc gridSpan="2">
                  <a:txBody>
                    <a:bodyPr/>
                    <a:lstStyle/>
                    <a:p>
                      <a:pPr algn="ctr">
                        <a:lnSpc>
                          <a:spcPct val="115000"/>
                        </a:lnSpc>
                        <a:spcAft>
                          <a:spcPts val="1000"/>
                        </a:spcAft>
                        <a:buNone/>
                      </a:pPr>
                      <a:r>
                        <a:rPr lang="en-IN" sz="2000">
                          <a:effectLst/>
                        </a:rPr>
                        <a:t>ROLL NO</a:t>
                      </a:r>
                      <a:endParaRPr lang="en-IN" sz="1400">
                        <a:effectLst/>
                        <a:latin typeface="Calibri" panose="020F0502020204030204" pitchFamily="34" charset="0"/>
                        <a:ea typeface="Calibri" panose="020F0502020204030204" pitchFamily="34" charset="0"/>
                      </a:endParaRPr>
                    </a:p>
                  </a:txBody>
                  <a:tcPr marL="68580" marR="68580" marT="0" marB="0" anchor="ctr">
                    <a:solidFill>
                      <a:schemeClr val="bg1">
                        <a:lumMod val="95000"/>
                      </a:schemeClr>
                    </a:solidFill>
                  </a:tcPr>
                </a:tc>
                <a:tc hMerge="1">
                  <a:txBody>
                    <a:bodyPr/>
                    <a:lstStyle/>
                    <a:p>
                      <a:endParaRPr lang="en-IN"/>
                    </a:p>
                  </a:txBody>
                  <a:tcPr/>
                </a:tc>
                <a:tc>
                  <a:txBody>
                    <a:bodyPr/>
                    <a:lstStyle/>
                    <a:p>
                      <a:pPr algn="ctr">
                        <a:lnSpc>
                          <a:spcPct val="115000"/>
                        </a:lnSpc>
                        <a:spcAft>
                          <a:spcPts val="1000"/>
                        </a:spcAft>
                        <a:buNone/>
                      </a:pPr>
                      <a:r>
                        <a:rPr lang="en-IN" sz="2000">
                          <a:effectLst/>
                        </a:rPr>
                        <a:t>27</a:t>
                      </a:r>
                      <a:endParaRPr lang="en-IN" sz="14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15000"/>
                        </a:lnSpc>
                        <a:spcAft>
                          <a:spcPts val="1000"/>
                        </a:spcAft>
                        <a:buNone/>
                      </a:pPr>
                      <a:r>
                        <a:rPr lang="en-IN" sz="2000">
                          <a:effectLst/>
                        </a:rPr>
                        <a:t>62</a:t>
                      </a:r>
                      <a:endParaRPr lang="en-IN" sz="14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15000"/>
                        </a:lnSpc>
                        <a:spcAft>
                          <a:spcPts val="1000"/>
                        </a:spcAft>
                        <a:buNone/>
                      </a:pPr>
                      <a:r>
                        <a:rPr lang="en-IN" sz="2000">
                          <a:effectLst/>
                        </a:rPr>
                        <a:t>21</a:t>
                      </a:r>
                      <a:endParaRPr lang="en-IN" sz="1400">
                        <a:effectLst/>
                        <a:latin typeface="Calibri" panose="020F0502020204030204" pitchFamily="34" charset="0"/>
                        <a:ea typeface="Calibri" panose="020F0502020204030204" pitchFamily="34" charset="0"/>
                      </a:endParaRPr>
                    </a:p>
                  </a:txBody>
                  <a:tcPr marL="68580" marR="68580" marT="0" marB="0" anchor="ctr"/>
                </a:tc>
                <a:tc>
                  <a:txBody>
                    <a:bodyPr/>
                    <a:lstStyle/>
                    <a:p>
                      <a:pPr algn="ctr">
                        <a:lnSpc>
                          <a:spcPct val="115000"/>
                        </a:lnSpc>
                        <a:spcAft>
                          <a:spcPts val="1000"/>
                        </a:spcAft>
                        <a:buNone/>
                      </a:pPr>
                      <a:r>
                        <a:rPr lang="en-IN" sz="2000">
                          <a:effectLst/>
                        </a:rPr>
                        <a:t>54</a:t>
                      </a:r>
                      <a:endParaRPr lang="en-IN" sz="1400">
                        <a:effectLst/>
                        <a:latin typeface="Calibri" panose="020F0502020204030204" pitchFamily="34" charset="0"/>
                        <a:ea typeface="Calibri" panose="020F0502020204030204" pitchFamily="34" charset="0"/>
                      </a:endParaRPr>
                    </a:p>
                  </a:txBody>
                  <a:tcPr marL="68580" marR="68580" marT="0" marB="0" anchor="ctr"/>
                </a:tc>
                <a:extLst>
                  <a:ext uri="{0D108BD9-81ED-4DB2-BD59-A6C34878D82A}">
                    <a16:rowId xmlns:a16="http://schemas.microsoft.com/office/drawing/2014/main" val="3360345768"/>
                  </a:ext>
                </a:extLst>
              </a:tr>
              <a:tr h="646430">
                <a:tc gridSpan="2">
                  <a:txBody>
                    <a:bodyPr/>
                    <a:lstStyle/>
                    <a:p>
                      <a:pPr algn="ctr">
                        <a:lnSpc>
                          <a:spcPct val="115000"/>
                        </a:lnSpc>
                        <a:spcAft>
                          <a:spcPts val="1000"/>
                        </a:spcAft>
                        <a:buNone/>
                      </a:pPr>
                      <a:r>
                        <a:rPr lang="en-IN" sz="2000">
                          <a:effectLst/>
                        </a:rPr>
                        <a:t>CLASS</a:t>
                      </a:r>
                      <a:endParaRPr lang="en-IN" sz="1400">
                        <a:effectLst/>
                        <a:latin typeface="Calibri" panose="020F0502020204030204" pitchFamily="34" charset="0"/>
                        <a:ea typeface="Calibri" panose="020F0502020204030204" pitchFamily="34" charset="0"/>
                      </a:endParaRPr>
                    </a:p>
                  </a:txBody>
                  <a:tcPr marL="68580" marR="68580" marT="0" marB="0" anchor="ctr">
                    <a:solidFill>
                      <a:schemeClr val="bg1">
                        <a:lumMod val="95000"/>
                      </a:schemeClr>
                    </a:solidFill>
                  </a:tcPr>
                </a:tc>
                <a:tc hMerge="1">
                  <a:txBody>
                    <a:bodyPr/>
                    <a:lstStyle/>
                    <a:p>
                      <a:endParaRPr lang="en-IN"/>
                    </a:p>
                  </a:txBody>
                  <a:tcPr/>
                </a:tc>
                <a:tc gridSpan="4">
                  <a:txBody>
                    <a:bodyPr/>
                    <a:lstStyle/>
                    <a:p>
                      <a:pPr algn="ctr">
                        <a:lnSpc>
                          <a:spcPct val="115000"/>
                        </a:lnSpc>
                        <a:spcAft>
                          <a:spcPts val="1000"/>
                        </a:spcAft>
                        <a:buNone/>
                      </a:pPr>
                      <a:r>
                        <a:rPr lang="en-US" sz="2000" dirty="0">
                          <a:effectLst/>
                        </a:rPr>
                        <a:t>S6 CSE(AI)  (2023-27 BATCH)</a:t>
                      </a:r>
                      <a:r>
                        <a:rPr lang="en-IN" sz="2000" dirty="0">
                          <a:effectLst/>
                        </a:rPr>
                        <a:t> </a:t>
                      </a:r>
                      <a:endParaRPr lang="en-IN" sz="1400" dirty="0">
                        <a:effectLst/>
                        <a:latin typeface="Calibri" panose="020F0502020204030204" pitchFamily="34" charset="0"/>
                        <a:ea typeface="Calibri" panose="020F0502020204030204" pitchFamily="34" charset="0"/>
                      </a:endParaRPr>
                    </a:p>
                  </a:txBody>
                  <a:tcPr marL="68580" marR="68580" marT="0" marB="0" anchor="ctr"/>
                </a:tc>
                <a:tc hMerge="1">
                  <a:txBody>
                    <a:bodyPr/>
                    <a:lstStyle/>
                    <a:p>
                      <a:endParaRPr lang="en-IN"/>
                    </a:p>
                  </a:txBody>
                  <a:tcPr/>
                </a:tc>
                <a:tc hMerge="1">
                  <a:txBody>
                    <a:bodyPr/>
                    <a:lstStyle/>
                    <a:p>
                      <a:endParaRPr lang="en-IN"/>
                    </a:p>
                  </a:txBody>
                  <a:tcPr/>
                </a:tc>
                <a:tc hMerge="1">
                  <a:txBody>
                    <a:bodyPr/>
                    <a:lstStyle/>
                    <a:p>
                      <a:pPr algn="ctr">
                        <a:lnSpc>
                          <a:spcPct val="115000"/>
                        </a:lnSpc>
                        <a:spcAft>
                          <a:spcPts val="1000"/>
                        </a:spcAft>
                        <a:buNone/>
                      </a:pPr>
                      <a:endParaRPr lang="en-IN" sz="14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994706198"/>
                  </a:ext>
                </a:extLst>
              </a:tr>
            </a:tbl>
          </a:graphicData>
        </a:graphic>
      </p:graphicFrame>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C07C0-ED82-34C4-04A5-FF03AC720535}"/>
            </a:ext>
          </a:extLst>
        </p:cNvPr>
        <p:cNvGrpSpPr/>
        <p:nvPr/>
      </p:nvGrpSpPr>
      <p:grpSpPr>
        <a:xfrm>
          <a:off x="0" y="0"/>
          <a:ext cx="0" cy="0"/>
          <a:chOff x="0" y="0"/>
          <a:chExt cx="0" cy="0"/>
        </a:xfrm>
      </p:grpSpPr>
      <p:sp>
        <p:nvSpPr>
          <p:cNvPr id="101" name="Title 1">
            <a:extLst>
              <a:ext uri="{FF2B5EF4-FFF2-40B4-BE49-F238E27FC236}">
                <a16:creationId xmlns:a16="http://schemas.microsoft.com/office/drawing/2014/main" id="{124EE1C3-4505-9BC5-54C5-D4955C120251}"/>
              </a:ext>
            </a:extLst>
          </p:cNvPr>
          <p:cNvSpPr txBox="1">
            <a:spLocks noGrp="1"/>
          </p:cNvSpPr>
          <p:nvPr>
            <p:ph type="title"/>
          </p:nvPr>
        </p:nvSpPr>
        <p:spPr>
          <a:prstGeom prst="rect">
            <a:avLst/>
          </a:prstGeom>
        </p:spPr>
        <p:txBody>
          <a:bodyPr>
            <a:normAutofit/>
          </a:bodyPr>
          <a:lstStyle/>
          <a:p>
            <a:r>
              <a:rPr sz="4000" b="1" dirty="0"/>
              <a:t>Project Title &amp; Team</a:t>
            </a:r>
          </a:p>
        </p:txBody>
      </p:sp>
      <p:sp>
        <p:nvSpPr>
          <p:cNvPr id="103" name="Rectangle 3">
            <a:extLst>
              <a:ext uri="{FF2B5EF4-FFF2-40B4-BE49-F238E27FC236}">
                <a16:creationId xmlns:a16="http://schemas.microsoft.com/office/drawing/2014/main" id="{539AF453-B4ED-DA7E-13AB-7C7FDFCD5895}"/>
              </a:ext>
            </a:extLst>
          </p:cNvPr>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04" name="Picture 4" descr="Picture 4">
            <a:extLst>
              <a:ext uri="{FF2B5EF4-FFF2-40B4-BE49-F238E27FC236}">
                <a16:creationId xmlns:a16="http://schemas.microsoft.com/office/drawing/2014/main" id="{68DBB454-AABB-8DA8-F620-BBE0827069A0}"/>
              </a:ext>
            </a:extLst>
          </p:cNvPr>
          <p:cNvPicPr>
            <a:picLocks noChangeAspect="1"/>
          </p:cNvPicPr>
          <p:nvPr/>
        </p:nvPicPr>
        <p:blipFill>
          <a:blip r:embed="rId2"/>
          <a:stretch>
            <a:fillRect/>
          </a:stretch>
        </p:blipFill>
        <p:spPr>
          <a:xfrm>
            <a:off x="7232231" y="-22861"/>
            <a:ext cx="1916769" cy="411482"/>
          </a:xfrm>
          <a:prstGeom prst="rect">
            <a:avLst/>
          </a:prstGeom>
          <a:ln w="12700">
            <a:miter lim="400000"/>
          </a:ln>
        </p:spPr>
      </p:pic>
      <p:sp>
        <p:nvSpPr>
          <p:cNvPr id="5" name="Google Shape;60;p2">
            <a:extLst>
              <a:ext uri="{FF2B5EF4-FFF2-40B4-BE49-F238E27FC236}">
                <a16:creationId xmlns:a16="http://schemas.microsoft.com/office/drawing/2014/main" id="{CE8174CD-F5F8-B94F-7EB4-449EA714527F}"/>
              </a:ext>
            </a:extLst>
          </p:cNvPr>
          <p:cNvSpPr txBox="1">
            <a:spLocks noGrp="1"/>
          </p:cNvSpPr>
          <p:nvPr>
            <p:ph type="body" idx="1"/>
          </p:nvPr>
        </p:nvSpPr>
        <p:spPr>
          <a:xfrm>
            <a:off x="457200" y="1600200"/>
            <a:ext cx="8229600" cy="4525963"/>
          </a:xfrm>
          <a:prstGeom prst="rect">
            <a:avLst/>
          </a:prstGeom>
          <a:noFill/>
          <a:ln>
            <a:noFill/>
          </a:ln>
        </p:spPr>
        <p:txBody>
          <a:bodyPr spcFirstLastPara="1" wrap="square" lIns="45700" tIns="45700" rIns="45700" bIns="45700" anchor="t" anchorCtr="0">
            <a:normAutofit/>
          </a:bodyPr>
          <a:lstStyle/>
          <a:p>
            <a:pPr marL="0" lvl="0" indent="0" algn="l" rtl="0">
              <a:lnSpc>
                <a:spcPct val="115000"/>
              </a:lnSpc>
              <a:spcBef>
                <a:spcPts val="0"/>
              </a:spcBef>
              <a:spcAft>
                <a:spcPts val="0"/>
              </a:spcAft>
              <a:buClr>
                <a:schemeClr val="dk1"/>
              </a:buClr>
              <a:buSzPts val="1100"/>
              <a:buFont typeface="Arial"/>
              <a:buNone/>
            </a:pPr>
            <a:r>
              <a:rPr lang="en-US" sz="2000" b="1" u="sng" dirty="0">
                <a:solidFill>
                  <a:schemeClr val="dk1"/>
                </a:solidFill>
                <a:latin typeface="Times New Roman"/>
                <a:ea typeface="Times New Roman"/>
                <a:cs typeface="Times New Roman"/>
                <a:sym typeface="Times New Roman"/>
              </a:rPr>
              <a:t>TITLE:</a:t>
            </a:r>
            <a:endParaRPr sz="2000" b="1" u="sng"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20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2000" b="1" u="sng" dirty="0">
                <a:solidFill>
                  <a:schemeClr val="dk1"/>
                </a:solidFill>
                <a:latin typeface="Times New Roman"/>
                <a:ea typeface="Times New Roman"/>
                <a:cs typeface="Times New Roman"/>
                <a:sym typeface="Times New Roman"/>
              </a:rPr>
              <a:t>TEAM MEMBERS:</a:t>
            </a:r>
            <a:endParaRPr sz="2000" b="1" u="sng" dirty="0">
              <a:solidFill>
                <a:schemeClr val="dk1"/>
              </a:solidFill>
              <a:latin typeface="Times New Roman"/>
              <a:ea typeface="Times New Roman"/>
              <a:cs typeface="Times New Roman"/>
              <a:sym typeface="Times New Roman"/>
            </a:endParaRPr>
          </a:p>
          <a:p>
            <a:pPr fontAlgn="ctr"/>
            <a:r>
              <a:rPr lang="en-IN" sz="2000" dirty="0"/>
              <a:t>Fathima P  </a:t>
            </a:r>
            <a:r>
              <a:rPr lang="en-IN" sz="2000" dirty="0" err="1"/>
              <a:t>Ajvad</a:t>
            </a:r>
            <a:endParaRPr lang="en-IN" sz="2000" dirty="0"/>
          </a:p>
          <a:p>
            <a:pPr fontAlgn="ctr"/>
            <a:r>
              <a:rPr lang="en-IN" sz="2000" dirty="0"/>
              <a:t>Zayed Bin Hassan</a:t>
            </a:r>
          </a:p>
          <a:p>
            <a:pPr fontAlgn="ctr"/>
            <a:r>
              <a:rPr lang="en-IN" sz="2000" dirty="0"/>
              <a:t>Atul Biju</a:t>
            </a:r>
          </a:p>
          <a:p>
            <a:pPr fontAlgn="ctr"/>
            <a:r>
              <a:rPr lang="en-US" sz="2000" dirty="0"/>
              <a:t>Sahil</a:t>
            </a:r>
          </a:p>
          <a:p>
            <a:pPr marL="12700" lvl="0" indent="0" algn="l" rtl="0">
              <a:lnSpc>
                <a:spcPct val="115000"/>
              </a:lnSpc>
              <a:spcBef>
                <a:spcPts val="0"/>
              </a:spcBef>
              <a:spcAft>
                <a:spcPts val="0"/>
              </a:spcAft>
              <a:buClr>
                <a:schemeClr val="dk1"/>
              </a:buClr>
              <a:buSzPts val="1100"/>
              <a:buFont typeface="Arial"/>
              <a:buNone/>
            </a:pPr>
            <a:endParaRPr lang="en-GB" sz="2000" dirty="0">
              <a:solidFill>
                <a:schemeClr val="dk1"/>
              </a:solidFill>
              <a:latin typeface="Times New Roman"/>
              <a:ea typeface="Times New Roman"/>
              <a:cs typeface="Times New Roman"/>
              <a:sym typeface="Times New Roman"/>
            </a:endParaRPr>
          </a:p>
          <a:p>
            <a:pPr marL="0" lvl="0" indent="0">
              <a:lnSpc>
                <a:spcPct val="115000"/>
              </a:lnSpc>
              <a:spcBef>
                <a:spcPts val="0"/>
              </a:spcBef>
              <a:buClr>
                <a:schemeClr val="dk1"/>
              </a:buClr>
              <a:buSzPts val="1100"/>
              <a:buNone/>
            </a:pPr>
            <a:r>
              <a:rPr lang="en-US" sz="2000" b="1" u="sng" dirty="0">
                <a:solidFill>
                  <a:schemeClr val="dk1"/>
                </a:solidFill>
                <a:latin typeface="Times New Roman"/>
                <a:ea typeface="Times New Roman"/>
                <a:cs typeface="Times New Roman"/>
                <a:sym typeface="Times New Roman"/>
              </a:rPr>
              <a:t>GUIDE:</a:t>
            </a:r>
          </a:p>
          <a:p>
            <a:pPr marL="0" indent="0">
              <a:spcBef>
                <a:spcPts val="300"/>
              </a:spcBef>
              <a:buNone/>
            </a:pPr>
            <a:r>
              <a:rPr lang="en-IN" sz="1800" dirty="0"/>
              <a:t>Miss Madhu Priya</a:t>
            </a:r>
          </a:p>
          <a:p>
            <a:pPr marL="12700" lvl="0" indent="0" algn="l" rtl="0">
              <a:lnSpc>
                <a:spcPct val="115000"/>
              </a:lnSpc>
              <a:spcBef>
                <a:spcPts val="0"/>
              </a:spcBef>
              <a:spcAft>
                <a:spcPts val="0"/>
              </a:spcAft>
              <a:buClr>
                <a:schemeClr val="dk1"/>
              </a:buClr>
              <a:buSzPts val="1100"/>
              <a:buFont typeface="Arial"/>
              <a:buNone/>
            </a:pPr>
            <a:endParaRPr sz="2000" dirty="0">
              <a:solidFill>
                <a:schemeClr val="dk1"/>
              </a:solidFill>
              <a:latin typeface="Times New Roman"/>
              <a:ea typeface="Times New Roman"/>
              <a:cs typeface="Times New Roman"/>
              <a:sym typeface="Times New Roman"/>
            </a:endParaRPr>
          </a:p>
          <a:p>
            <a:pPr marL="342900" lvl="0" indent="-139700" algn="l" rtl="0">
              <a:lnSpc>
                <a:spcPct val="100000"/>
              </a:lnSpc>
              <a:spcBef>
                <a:spcPts val="0"/>
              </a:spcBef>
              <a:spcAft>
                <a:spcPts val="0"/>
              </a:spcAft>
              <a:buClr>
                <a:srgbClr val="000000"/>
              </a:buClr>
              <a:buSzPts val="3200"/>
              <a:buNone/>
            </a:pPr>
            <a:endParaRPr dirty="0"/>
          </a:p>
        </p:txBody>
      </p:sp>
    </p:spTree>
    <p:extLst>
      <p:ext uri="{BB962C8B-B14F-4D97-AF65-F5344CB8AC3E}">
        <p14:creationId xmlns:p14="http://schemas.microsoft.com/office/powerpoint/2010/main" val="414518771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itle 1"/>
          <p:cNvSpPr txBox="1">
            <a:spLocks noGrp="1"/>
          </p:cNvSpPr>
          <p:nvPr>
            <p:ph type="title"/>
          </p:nvPr>
        </p:nvSpPr>
        <p:spPr>
          <a:prstGeom prst="rect">
            <a:avLst/>
          </a:prstGeom>
        </p:spPr>
        <p:txBody>
          <a:bodyPr>
            <a:normAutofit/>
          </a:bodyPr>
          <a:lstStyle/>
          <a:p>
            <a:r>
              <a:rPr sz="4000" b="1"/>
              <a:t>Abstract</a:t>
            </a:r>
          </a:p>
        </p:txBody>
      </p:sp>
      <p:sp>
        <p:nvSpPr>
          <p:cNvPr id="107" name="Content Placeholder 2"/>
          <p:cNvSpPr txBox="1">
            <a:spLocks noGrp="1"/>
          </p:cNvSpPr>
          <p:nvPr>
            <p:ph type="body" idx="1"/>
          </p:nvPr>
        </p:nvSpPr>
        <p:spPr>
          <a:xfrm>
            <a:off x="830826" y="1600200"/>
            <a:ext cx="7575755" cy="4525963"/>
          </a:xfrm>
          <a:prstGeom prst="rect">
            <a:avLst/>
          </a:prstGeom>
        </p:spPr>
        <p:txBody>
          <a:bodyPr lIns="45719" tIns="45720" rIns="45719" bIns="45720" anchor="t">
            <a:noAutofit/>
          </a:bodyPr>
          <a:lstStyle/>
          <a:p>
            <a:pPr marL="0" indent="0" algn="just">
              <a:buNone/>
            </a:pPr>
            <a:r>
              <a:rPr lang="en-GB" sz="2400"/>
              <a:t>This project introduces a lightweight AI model for automated code debugging and simplification using the                                 BDH (Baby Dragon Hatchling) architecture. To overcome the high latency and computational costs of large Transformers, we employ Knowledge Distillation to transfer structural logic from massive "Teacher" LLMs into a compact 150M parameter "Student" model. By optimizing for localized syntax and code semantics, this specialized architecture achieves high-efficiency performance with significantly reduced hardware requirements.</a:t>
            </a:r>
            <a:endParaRPr lang="en-US"/>
          </a:p>
        </p:txBody>
      </p:sp>
      <p:sp>
        <p:nvSpPr>
          <p:cNvPr id="108" name="Rectangle 3"/>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09" name="Picture 4" descr="Picture 4"/>
          <p:cNvPicPr>
            <a:picLocks noChangeAspect="1"/>
          </p:cNvPicPr>
          <p:nvPr/>
        </p:nvPicPr>
        <p:blipFill>
          <a:blip r:embed="rId2"/>
          <a:stretch>
            <a:fillRect/>
          </a:stretch>
        </p:blipFill>
        <p:spPr>
          <a:xfrm>
            <a:off x="7232231" y="-22861"/>
            <a:ext cx="1916769" cy="411482"/>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itle 1"/>
          <p:cNvSpPr txBox="1">
            <a:spLocks noGrp="1"/>
          </p:cNvSpPr>
          <p:nvPr>
            <p:ph type="title"/>
          </p:nvPr>
        </p:nvSpPr>
        <p:spPr>
          <a:prstGeom prst="rect">
            <a:avLst/>
          </a:prstGeom>
        </p:spPr>
        <p:txBody>
          <a:bodyPr>
            <a:normAutofit/>
          </a:bodyPr>
          <a:lstStyle/>
          <a:p>
            <a:r>
              <a:rPr sz="4000" b="1"/>
              <a:t>Introduction</a:t>
            </a:r>
          </a:p>
        </p:txBody>
      </p:sp>
      <p:sp>
        <p:nvSpPr>
          <p:cNvPr id="112" name="Content Placeholder 2"/>
          <p:cNvSpPr txBox="1">
            <a:spLocks noGrp="1"/>
          </p:cNvSpPr>
          <p:nvPr>
            <p:ph type="body" idx="1"/>
          </p:nvPr>
        </p:nvSpPr>
        <p:spPr>
          <a:xfrm>
            <a:off x="457200" y="1417639"/>
            <a:ext cx="8229600" cy="4525963"/>
          </a:xfrm>
          <a:prstGeom prst="rect">
            <a:avLst/>
          </a:prstGeom>
        </p:spPr>
        <p:txBody>
          <a:bodyPr lIns="45719" tIns="45720" rIns="45719" bIns="45720" anchor="t">
            <a:noAutofit/>
          </a:bodyPr>
          <a:lstStyle/>
          <a:p>
            <a:pPr marL="0" indent="0" algn="just">
              <a:buNone/>
            </a:pPr>
            <a:r>
              <a:rPr lang="en-GB" sz="2400"/>
              <a:t>The rapid advancement of Large Language Models (LLMs) has transformed software development, yet most state-of-the-art models rely on massive Transformer architectures. These models are computationally expensive, leading to high latency and significant hardware costs.</a:t>
            </a:r>
          </a:p>
          <a:p>
            <a:pPr marL="0" indent="0" algn="just">
              <a:buNone/>
            </a:pPr>
            <a:r>
              <a:rPr lang="en-GB" sz="2400"/>
              <a:t>In many scenarios, such as localized syntax debugging and basic code simplification, using a multi-billion parameter model is a massive waste of resources. This project addresses this inefficiency by developing a lightweight, task-specific alternative. By utilizing the BDH (Baby Dragon Hatchling) architecture, we provide a solution that prioritizes speed and low computational overhead, making intelligent code repair accessible on standard hardware without the need for high-end GPU clusters.</a:t>
            </a:r>
          </a:p>
        </p:txBody>
      </p:sp>
      <p:sp>
        <p:nvSpPr>
          <p:cNvPr id="113" name="Rectangle 3"/>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14" name="Picture 4" descr="Picture 4"/>
          <p:cNvPicPr>
            <a:picLocks noChangeAspect="1"/>
          </p:cNvPicPr>
          <p:nvPr/>
        </p:nvPicPr>
        <p:blipFill>
          <a:blip r:embed="rId2"/>
          <a:stretch>
            <a:fillRect/>
          </a:stretch>
        </p:blipFill>
        <p:spPr>
          <a:xfrm>
            <a:off x="7223926" y="-22861"/>
            <a:ext cx="1916769" cy="411482"/>
          </a:xfrm>
          <a:prstGeom prst="rect">
            <a:avLst/>
          </a:pr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95000"/>
          </a:srgbClr>
        </a:solidFill>
        <a:effectLst/>
      </p:bgPr>
    </p:bg>
    <p:spTree>
      <p:nvGrpSpPr>
        <p:cNvPr id="1" name=""/>
        <p:cNvGrpSpPr/>
        <p:nvPr/>
      </p:nvGrpSpPr>
      <p:grpSpPr>
        <a:xfrm>
          <a:off x="0" y="0"/>
          <a:ext cx="0" cy="0"/>
          <a:chOff x="0" y="0"/>
          <a:chExt cx="0" cy="0"/>
        </a:xfrm>
      </p:grpSpPr>
      <p:sp>
        <p:nvSpPr>
          <p:cNvPr id="116" name="Title 1"/>
          <p:cNvSpPr txBox="1">
            <a:spLocks noGrp="1"/>
          </p:cNvSpPr>
          <p:nvPr>
            <p:ph type="title"/>
          </p:nvPr>
        </p:nvSpPr>
        <p:spPr>
          <a:prstGeom prst="rect">
            <a:avLst/>
          </a:prstGeom>
        </p:spPr>
        <p:txBody>
          <a:bodyPr>
            <a:normAutofit/>
          </a:bodyPr>
          <a:lstStyle/>
          <a:p>
            <a:r>
              <a:rPr sz="4000" b="1"/>
              <a:t>Problem Statement</a:t>
            </a:r>
          </a:p>
        </p:txBody>
      </p:sp>
      <p:sp>
        <p:nvSpPr>
          <p:cNvPr id="118" name="Rectangle 3"/>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19" name="Picture 4" descr="Picture 4"/>
          <p:cNvPicPr>
            <a:picLocks noChangeAspect="1"/>
          </p:cNvPicPr>
          <p:nvPr/>
        </p:nvPicPr>
        <p:blipFill>
          <a:blip r:embed="rId2"/>
          <a:stretch>
            <a:fillRect/>
          </a:stretch>
        </p:blipFill>
        <p:spPr>
          <a:xfrm>
            <a:off x="7240536" y="-22861"/>
            <a:ext cx="1916769" cy="411482"/>
          </a:xfrm>
          <a:prstGeom prst="rect">
            <a:avLst/>
          </a:prstGeom>
          <a:ln w="12700">
            <a:miter lim="400000"/>
          </a:ln>
        </p:spPr>
      </p:pic>
      <p:sp>
        <p:nvSpPr>
          <p:cNvPr id="5" name="Text 0">
            <a:extLst>
              <a:ext uri="{FF2B5EF4-FFF2-40B4-BE49-F238E27FC236}">
                <a16:creationId xmlns:a16="http://schemas.microsoft.com/office/drawing/2014/main" id="{5B469647-0A9B-1A3E-29F2-C13D5E2D5AFC}"/>
              </a:ext>
            </a:extLst>
          </p:cNvPr>
          <p:cNvSpPr/>
          <p:nvPr/>
        </p:nvSpPr>
        <p:spPr>
          <a:xfrm>
            <a:off x="667537" y="1303361"/>
            <a:ext cx="7979735" cy="1063228"/>
          </a:xfrm>
          <a:prstGeom prst="rect">
            <a:avLst/>
          </a:prstGeom>
          <a:noFill/>
          <a:ln/>
        </p:spPr>
        <p:txBody>
          <a:bodyPr wrap="square" lIns="0" tIns="0" rIns="0" bIns="0" rtlCol="0" anchor="t"/>
          <a:lstStyle/>
          <a:p>
            <a:pPr marL="0" indent="0" algn="l">
              <a:lnSpc>
                <a:spcPts val="4150"/>
              </a:lnSpc>
              <a:buNone/>
            </a:pPr>
            <a:r>
              <a:rPr lang="en-US" sz="2000" b="1">
                <a:solidFill>
                  <a:srgbClr val="151617"/>
                </a:solidFill>
                <a:latin typeface="Montserrat Black" pitchFamily="34" charset="0"/>
                <a:ea typeface="Montserrat Black" pitchFamily="34" charset="-122"/>
                <a:cs typeface="Montserrat Black" pitchFamily="34" charset="-120"/>
              </a:rPr>
              <a:t>Technical Bottlenecks: Why Big Models Fail Small Fixes ?</a:t>
            </a:r>
            <a:endParaRPr lang="en-US" sz="2000"/>
          </a:p>
        </p:txBody>
      </p:sp>
      <p:grpSp>
        <p:nvGrpSpPr>
          <p:cNvPr id="22" name="Group 21">
            <a:extLst>
              <a:ext uri="{FF2B5EF4-FFF2-40B4-BE49-F238E27FC236}">
                <a16:creationId xmlns:a16="http://schemas.microsoft.com/office/drawing/2014/main" id="{36ACF8C5-72F4-C230-67F7-6FE1ED166962}"/>
              </a:ext>
            </a:extLst>
          </p:cNvPr>
          <p:cNvGrpSpPr/>
          <p:nvPr/>
        </p:nvGrpSpPr>
        <p:grpSpPr>
          <a:xfrm>
            <a:off x="638486" y="2008009"/>
            <a:ext cx="8048314" cy="4575353"/>
            <a:chOff x="857227" y="1735833"/>
            <a:chExt cx="8048314" cy="4575353"/>
          </a:xfrm>
          <a:solidFill>
            <a:schemeClr val="bg1">
              <a:lumMod val="95000"/>
            </a:schemeClr>
          </a:solidFill>
          <a:effectLst>
            <a:outerShdw blurRad="50800" dist="38100" dir="8100000" algn="tr" rotWithShape="0">
              <a:prstClr val="black">
                <a:alpha val="40000"/>
              </a:prstClr>
            </a:outerShdw>
          </a:effectLst>
        </p:grpSpPr>
        <p:grpSp>
          <p:nvGrpSpPr>
            <p:cNvPr id="21" name="Group 20">
              <a:extLst>
                <a:ext uri="{FF2B5EF4-FFF2-40B4-BE49-F238E27FC236}">
                  <a16:creationId xmlns:a16="http://schemas.microsoft.com/office/drawing/2014/main" id="{E7CE246C-662A-30C4-FDB5-87748A80F0F7}"/>
                </a:ext>
              </a:extLst>
            </p:cNvPr>
            <p:cNvGrpSpPr/>
            <p:nvPr/>
          </p:nvGrpSpPr>
          <p:grpSpPr>
            <a:xfrm>
              <a:off x="925806" y="1735833"/>
              <a:ext cx="7979735" cy="1777838"/>
              <a:chOff x="-2629211" y="1098659"/>
              <a:chExt cx="3673961" cy="2652355"/>
            </a:xfrm>
            <a:grpFill/>
          </p:grpSpPr>
          <p:sp>
            <p:nvSpPr>
              <p:cNvPr id="6" name="Shape 1">
                <a:extLst>
                  <a:ext uri="{FF2B5EF4-FFF2-40B4-BE49-F238E27FC236}">
                    <a16:creationId xmlns:a16="http://schemas.microsoft.com/office/drawing/2014/main" id="{8D6D518D-9888-08EA-4662-88910EE30F3A}"/>
                  </a:ext>
                </a:extLst>
              </p:cNvPr>
              <p:cNvSpPr/>
              <p:nvPr/>
            </p:nvSpPr>
            <p:spPr>
              <a:xfrm>
                <a:off x="-2629211" y="1098659"/>
                <a:ext cx="3673961" cy="2652355"/>
              </a:xfrm>
              <a:prstGeom prst="roundRect">
                <a:avLst>
                  <a:gd name="adj" fmla="val 4137"/>
                </a:avLst>
              </a:prstGeom>
              <a:grpFill/>
              <a:ln w="22860">
                <a:solidFill>
                  <a:srgbClr val="151617"/>
                </a:solidFill>
                <a:prstDash val="solid"/>
              </a:ln>
              <a:effectLst>
                <a:outerShdw blurRad="50800" dist="38100" dir="5400000" algn="t" rotWithShape="0">
                  <a:prstClr val="black">
                    <a:alpha val="40000"/>
                  </a:prstClr>
                </a:outerShdw>
              </a:effectLst>
            </p:spPr>
          </p:sp>
          <p:sp>
            <p:nvSpPr>
              <p:cNvPr id="8" name="Text 3">
                <a:extLst>
                  <a:ext uri="{FF2B5EF4-FFF2-40B4-BE49-F238E27FC236}">
                    <a16:creationId xmlns:a16="http://schemas.microsoft.com/office/drawing/2014/main" id="{EE2F8BF6-3D31-576B-4A0A-ADF700A08D38}"/>
                  </a:ext>
                </a:extLst>
              </p:cNvPr>
              <p:cNvSpPr/>
              <p:nvPr/>
            </p:nvSpPr>
            <p:spPr>
              <a:xfrm>
                <a:off x="-2391148" y="1291541"/>
                <a:ext cx="2425827" cy="531495"/>
              </a:xfrm>
              <a:prstGeom prst="rect">
                <a:avLst/>
              </a:prstGeom>
              <a:grpFill/>
              <a:ln/>
            </p:spPr>
            <p:txBody>
              <a:bodyPr wrap="square" lIns="0" tIns="0" rIns="0" bIns="0" rtlCol="0" anchor="t"/>
              <a:lstStyle/>
              <a:p>
                <a:pPr marL="0" indent="0" algn="l">
                  <a:lnSpc>
                    <a:spcPts val="2050"/>
                  </a:lnSpc>
                  <a:buNone/>
                </a:pPr>
                <a:r>
                  <a:rPr lang="en-US" sz="1650" b="1">
                    <a:solidFill>
                      <a:srgbClr val="151617"/>
                    </a:solidFill>
                    <a:latin typeface="Montserrat Black" pitchFamily="34" charset="0"/>
                    <a:ea typeface="Montserrat Black" pitchFamily="34" charset="-122"/>
                    <a:cs typeface="Montserrat Black" pitchFamily="34" charset="-120"/>
                  </a:rPr>
                  <a:t>Quadratic Scaling:    O(n²) Attention</a:t>
                </a:r>
                <a:endParaRPr lang="en-US" sz="1650"/>
              </a:p>
            </p:txBody>
          </p:sp>
          <p:sp>
            <p:nvSpPr>
              <p:cNvPr id="9" name="Text 4">
                <a:extLst>
                  <a:ext uri="{FF2B5EF4-FFF2-40B4-BE49-F238E27FC236}">
                    <a16:creationId xmlns:a16="http://schemas.microsoft.com/office/drawing/2014/main" id="{9DF769BF-3E84-3511-D60C-368CF206A5C7}"/>
                  </a:ext>
                </a:extLst>
              </p:cNvPr>
              <p:cNvSpPr/>
              <p:nvPr/>
            </p:nvSpPr>
            <p:spPr>
              <a:xfrm>
                <a:off x="-2391148" y="1925071"/>
                <a:ext cx="3238857" cy="1633061"/>
              </a:xfrm>
              <a:prstGeom prst="rect">
                <a:avLst/>
              </a:prstGeom>
              <a:grpFill/>
              <a:ln/>
            </p:spPr>
            <p:txBody>
              <a:bodyPr wrap="square" lIns="0" tIns="0" rIns="0" bIns="0" rtlCol="0" anchor="t"/>
              <a:lstStyle/>
              <a:p>
                <a:pPr marL="0" indent="0" algn="l">
                  <a:lnSpc>
                    <a:spcPts val="2100"/>
                  </a:lnSpc>
                  <a:buNone/>
                </a:pPr>
                <a:r>
                  <a:rPr lang="en-US" sz="1400">
                    <a:solidFill>
                      <a:srgbClr val="151617"/>
                    </a:solidFill>
                    <a:latin typeface="Inconsolata" pitchFamily="34" charset="0"/>
                    <a:ea typeface="Inconsolata" pitchFamily="34" charset="-122"/>
                    <a:cs typeface="Inconsolata" pitchFamily="34" charset="-120"/>
                  </a:rPr>
                  <a:t>Transformer models suffer from quadratic scaling in their attention mechanism. Processing longer files leads to exponentially slower performance, making them inefficient for large codebases.</a:t>
                </a:r>
                <a:endParaRPr lang="en-US" sz="1400"/>
              </a:p>
            </p:txBody>
          </p:sp>
        </p:grpSp>
        <p:grpSp>
          <p:nvGrpSpPr>
            <p:cNvPr id="19" name="Group 18">
              <a:extLst>
                <a:ext uri="{FF2B5EF4-FFF2-40B4-BE49-F238E27FC236}">
                  <a16:creationId xmlns:a16="http://schemas.microsoft.com/office/drawing/2014/main" id="{08C0831F-EA73-F2AF-D145-858DE8A1A72C}"/>
                </a:ext>
              </a:extLst>
            </p:cNvPr>
            <p:cNvGrpSpPr/>
            <p:nvPr/>
          </p:nvGrpSpPr>
          <p:grpSpPr>
            <a:xfrm>
              <a:off x="5212341" y="3931008"/>
              <a:ext cx="3693200" cy="2380178"/>
              <a:chOff x="1210612" y="1098659"/>
              <a:chExt cx="3693200" cy="2652355"/>
            </a:xfrm>
            <a:grpFill/>
          </p:grpSpPr>
          <p:sp>
            <p:nvSpPr>
              <p:cNvPr id="10" name="Shape 5">
                <a:extLst>
                  <a:ext uri="{FF2B5EF4-FFF2-40B4-BE49-F238E27FC236}">
                    <a16:creationId xmlns:a16="http://schemas.microsoft.com/office/drawing/2014/main" id="{DBF169B2-DA16-2739-F945-3B71830A0FF1}"/>
                  </a:ext>
                </a:extLst>
              </p:cNvPr>
              <p:cNvSpPr/>
              <p:nvPr/>
            </p:nvSpPr>
            <p:spPr>
              <a:xfrm>
                <a:off x="1210612" y="1098659"/>
                <a:ext cx="3693200" cy="2652355"/>
              </a:xfrm>
              <a:prstGeom prst="roundRect">
                <a:avLst>
                  <a:gd name="adj" fmla="val 4137"/>
                </a:avLst>
              </a:prstGeom>
              <a:grpFill/>
              <a:ln w="22860">
                <a:solidFill>
                  <a:srgbClr val="151617"/>
                </a:solidFill>
                <a:prstDash val="solid"/>
              </a:ln>
              <a:effectLst>
                <a:outerShdw dist="15240" dir="2700000" algn="bl" rotWithShape="0">
                  <a:srgbClr val="151617">
                    <a:alpha val="100000"/>
                  </a:srgbClr>
                </a:outerShdw>
              </a:effectLst>
            </p:spPr>
            <p:txBody>
              <a:bodyPr/>
              <a:lstStyle/>
              <a:p>
                <a:endParaRPr lang="en-IN"/>
              </a:p>
            </p:txBody>
          </p:sp>
          <p:sp>
            <p:nvSpPr>
              <p:cNvPr id="12" name="Text 7">
                <a:extLst>
                  <a:ext uri="{FF2B5EF4-FFF2-40B4-BE49-F238E27FC236}">
                    <a16:creationId xmlns:a16="http://schemas.microsoft.com/office/drawing/2014/main" id="{814ED9AF-BADA-D56F-7629-531EECA6FA9A}"/>
                  </a:ext>
                </a:extLst>
              </p:cNvPr>
              <p:cNvSpPr/>
              <p:nvPr/>
            </p:nvSpPr>
            <p:spPr>
              <a:xfrm>
                <a:off x="1472073" y="1291540"/>
                <a:ext cx="2835831" cy="531495"/>
              </a:xfrm>
              <a:prstGeom prst="rect">
                <a:avLst/>
              </a:prstGeom>
              <a:grpFill/>
              <a:ln/>
            </p:spPr>
            <p:txBody>
              <a:bodyPr wrap="square" lIns="0" tIns="0" rIns="0" bIns="0" rtlCol="0" anchor="t"/>
              <a:lstStyle/>
              <a:p>
                <a:pPr marL="0" indent="0" algn="l">
                  <a:lnSpc>
                    <a:spcPts val="2050"/>
                  </a:lnSpc>
                  <a:buNone/>
                </a:pPr>
                <a:r>
                  <a:rPr lang="en-US" sz="1650" b="1">
                    <a:solidFill>
                      <a:srgbClr val="151617"/>
                    </a:solidFill>
                    <a:latin typeface="Montserrat Black" pitchFamily="34" charset="0"/>
                    <a:ea typeface="Montserrat Black" pitchFamily="34" charset="-122"/>
                    <a:cs typeface="Montserrat Black" pitchFamily="34" charset="-120"/>
                  </a:rPr>
                  <a:t>Dense Compute: </a:t>
                </a:r>
                <a:endParaRPr lang="en-US" sz="1650"/>
              </a:p>
              <a:p>
                <a:pPr marL="0" indent="0" algn="l">
                  <a:lnSpc>
                    <a:spcPts val="2050"/>
                  </a:lnSpc>
                  <a:buNone/>
                </a:pPr>
                <a:r>
                  <a:rPr lang="en-US" sz="1650" b="1">
                    <a:solidFill>
                      <a:srgbClr val="151617"/>
                    </a:solidFill>
                    <a:latin typeface="Montserrat Black" pitchFamily="34" charset="0"/>
                    <a:ea typeface="Montserrat Black" pitchFamily="34" charset="-122"/>
                    <a:cs typeface="Montserrat Black" pitchFamily="34" charset="-120"/>
                  </a:rPr>
                  <a:t>100% Active, 1% Problem</a:t>
                </a:r>
                <a:endParaRPr lang="en-US" sz="1650"/>
              </a:p>
            </p:txBody>
          </p:sp>
          <p:sp>
            <p:nvSpPr>
              <p:cNvPr id="13" name="Text 8">
                <a:extLst>
                  <a:ext uri="{FF2B5EF4-FFF2-40B4-BE49-F238E27FC236}">
                    <a16:creationId xmlns:a16="http://schemas.microsoft.com/office/drawing/2014/main" id="{936D72C8-AE0B-67F4-C6F3-F9027BF4AB67}"/>
                  </a:ext>
                </a:extLst>
              </p:cNvPr>
              <p:cNvSpPr/>
              <p:nvPr/>
            </p:nvSpPr>
            <p:spPr>
              <a:xfrm>
                <a:off x="1472073" y="1925071"/>
                <a:ext cx="3238857" cy="1360884"/>
              </a:xfrm>
              <a:prstGeom prst="rect">
                <a:avLst/>
              </a:prstGeom>
              <a:grpFill/>
              <a:ln/>
            </p:spPr>
            <p:txBody>
              <a:bodyPr wrap="square" lIns="0" tIns="0" rIns="0" bIns="0" rtlCol="0" anchor="t"/>
              <a:lstStyle/>
              <a:p>
                <a:pPr marL="0" indent="0" algn="l">
                  <a:lnSpc>
                    <a:spcPts val="2100"/>
                  </a:lnSpc>
                  <a:buNone/>
                </a:pPr>
                <a:r>
                  <a:rPr lang="en-US" sz="1400">
                    <a:solidFill>
                      <a:srgbClr val="151617"/>
                    </a:solidFill>
                    <a:latin typeface="Inconsolata" pitchFamily="34" charset="0"/>
                    <a:ea typeface="Inconsolata" pitchFamily="34" charset="-122"/>
                    <a:cs typeface="Inconsolata" pitchFamily="34" charset="-120"/>
                  </a:rPr>
                  <a:t>Despite localized issues, the entire model is active, leading to dense computation for sparse problems. This over-activation of parameters is a major source of inefficiency.</a:t>
                </a:r>
                <a:endParaRPr lang="en-US" sz="1400"/>
              </a:p>
            </p:txBody>
          </p:sp>
        </p:grpSp>
        <p:grpSp>
          <p:nvGrpSpPr>
            <p:cNvPr id="20" name="Group 19">
              <a:extLst>
                <a:ext uri="{FF2B5EF4-FFF2-40B4-BE49-F238E27FC236}">
                  <a16:creationId xmlns:a16="http://schemas.microsoft.com/office/drawing/2014/main" id="{D5534704-56BD-3CD6-6A07-3ABE9591C2CB}"/>
                </a:ext>
              </a:extLst>
            </p:cNvPr>
            <p:cNvGrpSpPr/>
            <p:nvPr/>
          </p:nvGrpSpPr>
          <p:grpSpPr>
            <a:xfrm>
              <a:off x="857227" y="3931007"/>
              <a:ext cx="3693200" cy="2380178"/>
              <a:chOff x="-2652609" y="3921035"/>
              <a:chExt cx="3693200" cy="2380178"/>
            </a:xfrm>
            <a:grpFill/>
          </p:grpSpPr>
          <p:sp>
            <p:nvSpPr>
              <p:cNvPr id="14" name="Shape 9">
                <a:extLst>
                  <a:ext uri="{FF2B5EF4-FFF2-40B4-BE49-F238E27FC236}">
                    <a16:creationId xmlns:a16="http://schemas.microsoft.com/office/drawing/2014/main" id="{BE33135F-9012-AE4B-F5AB-62D9A1D294D7}"/>
                  </a:ext>
                </a:extLst>
              </p:cNvPr>
              <p:cNvSpPr/>
              <p:nvPr/>
            </p:nvSpPr>
            <p:spPr>
              <a:xfrm>
                <a:off x="-2652609" y="3921035"/>
                <a:ext cx="3693200" cy="2380178"/>
              </a:xfrm>
              <a:prstGeom prst="roundRect">
                <a:avLst>
                  <a:gd name="adj" fmla="val 4610"/>
                </a:avLst>
              </a:prstGeom>
              <a:grpFill/>
              <a:ln w="22860">
                <a:solidFill>
                  <a:srgbClr val="151617"/>
                </a:solidFill>
                <a:prstDash val="solid"/>
              </a:ln>
              <a:effectLst>
                <a:outerShdw blurRad="50800" dist="38100" dir="10800000" algn="r" rotWithShape="0">
                  <a:prstClr val="black">
                    <a:alpha val="40000"/>
                  </a:prstClr>
                </a:outerShdw>
              </a:effectLst>
            </p:spPr>
          </p:sp>
          <p:sp>
            <p:nvSpPr>
              <p:cNvPr id="16" name="Text 11">
                <a:extLst>
                  <a:ext uri="{FF2B5EF4-FFF2-40B4-BE49-F238E27FC236}">
                    <a16:creationId xmlns:a16="http://schemas.microsoft.com/office/drawing/2014/main" id="{091C0A76-59F5-F09E-C3A7-0268DCE8409A}"/>
                  </a:ext>
                </a:extLst>
              </p:cNvPr>
              <p:cNvSpPr/>
              <p:nvPr/>
            </p:nvSpPr>
            <p:spPr>
              <a:xfrm>
                <a:off x="-2391148" y="4113916"/>
                <a:ext cx="2991326" cy="531495"/>
              </a:xfrm>
              <a:prstGeom prst="rect">
                <a:avLst/>
              </a:prstGeom>
              <a:grpFill/>
              <a:ln/>
            </p:spPr>
            <p:txBody>
              <a:bodyPr wrap="square" lIns="0" tIns="0" rIns="0" bIns="0" rtlCol="0" anchor="t"/>
              <a:lstStyle/>
              <a:p>
                <a:pPr marL="0" indent="0" algn="l">
                  <a:lnSpc>
                    <a:spcPts val="2050"/>
                  </a:lnSpc>
                  <a:buNone/>
                </a:pPr>
                <a:r>
                  <a:rPr lang="en-US" sz="1650" b="1">
                    <a:solidFill>
                      <a:srgbClr val="151617"/>
                    </a:solidFill>
                    <a:latin typeface="Montserrat Black" pitchFamily="34" charset="0"/>
                    <a:ea typeface="Montserrat Black" pitchFamily="34" charset="-122"/>
                    <a:cs typeface="Montserrat Black" pitchFamily="34" charset="-120"/>
                  </a:rPr>
                  <a:t>Prohibitive Cost: </a:t>
                </a:r>
                <a:endParaRPr lang="en-US" sz="1650"/>
              </a:p>
              <a:p>
                <a:pPr marL="0" indent="0" algn="l">
                  <a:lnSpc>
                    <a:spcPts val="2050"/>
                  </a:lnSpc>
                  <a:buNone/>
                </a:pPr>
                <a:r>
                  <a:rPr lang="en-US" sz="1650" b="1">
                    <a:solidFill>
                      <a:srgbClr val="151617"/>
                    </a:solidFill>
                    <a:latin typeface="Montserrat Black" pitchFamily="34" charset="0"/>
                    <a:ea typeface="Montserrat Black" pitchFamily="34" charset="-122"/>
                    <a:cs typeface="Montserrat Black" pitchFamily="34" charset="-120"/>
                  </a:rPr>
                  <a:t>High VRAM Requirements</a:t>
                </a:r>
                <a:endParaRPr lang="en-US" sz="1650"/>
              </a:p>
            </p:txBody>
          </p:sp>
          <p:sp>
            <p:nvSpPr>
              <p:cNvPr id="17" name="Text 12">
                <a:extLst>
                  <a:ext uri="{FF2B5EF4-FFF2-40B4-BE49-F238E27FC236}">
                    <a16:creationId xmlns:a16="http://schemas.microsoft.com/office/drawing/2014/main" id="{89CF3422-AACE-9332-3B72-568B3A7AB483}"/>
                  </a:ext>
                </a:extLst>
              </p:cNvPr>
              <p:cNvSpPr/>
              <p:nvPr/>
            </p:nvSpPr>
            <p:spPr>
              <a:xfrm>
                <a:off x="-2391148" y="4747448"/>
                <a:ext cx="3238857" cy="1360884"/>
              </a:xfrm>
              <a:prstGeom prst="rect">
                <a:avLst/>
              </a:prstGeom>
              <a:grpFill/>
              <a:ln/>
            </p:spPr>
            <p:txBody>
              <a:bodyPr wrap="square" lIns="0" tIns="0" rIns="0" bIns="0" rtlCol="0" anchor="t"/>
              <a:lstStyle/>
              <a:p>
                <a:pPr marL="0" indent="0" algn="l">
                  <a:lnSpc>
                    <a:spcPts val="2100"/>
                  </a:lnSpc>
                  <a:buNone/>
                </a:pPr>
                <a:r>
                  <a:rPr lang="en-US" sz="1400">
                    <a:solidFill>
                      <a:srgbClr val="151617"/>
                    </a:solidFill>
                    <a:latin typeface="Inconsolata" pitchFamily="34" charset="0"/>
                    <a:ea typeface="Inconsolata" pitchFamily="34" charset="-122"/>
                    <a:cs typeface="Inconsolata" pitchFamily="34" charset="-120"/>
                  </a:rPr>
                  <a:t>The substantial VRAM demands of large models lock out edge devices and smaller development environments, limiting accessibility and increasing operational costs.</a:t>
                </a:r>
                <a:endParaRPr lang="en-US" sz="1400"/>
              </a:p>
            </p:txBody>
          </p:sp>
        </p:grpSp>
      </p:gr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Title 1"/>
          <p:cNvSpPr txBox="1">
            <a:spLocks noGrp="1"/>
          </p:cNvSpPr>
          <p:nvPr>
            <p:ph type="title"/>
          </p:nvPr>
        </p:nvSpPr>
        <p:spPr>
          <a:prstGeom prst="rect">
            <a:avLst/>
          </a:prstGeom>
        </p:spPr>
        <p:txBody>
          <a:bodyPr>
            <a:normAutofit/>
          </a:bodyPr>
          <a:lstStyle/>
          <a:p>
            <a:r>
              <a:rPr sz="4000" b="1"/>
              <a:t>Objectives</a:t>
            </a:r>
          </a:p>
        </p:txBody>
      </p:sp>
      <p:sp>
        <p:nvSpPr>
          <p:cNvPr id="123" name="Rectangle 3"/>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24" name="Picture 4" descr="Picture 4"/>
          <p:cNvPicPr>
            <a:picLocks noChangeAspect="1"/>
          </p:cNvPicPr>
          <p:nvPr/>
        </p:nvPicPr>
        <p:blipFill>
          <a:blip r:embed="rId2"/>
          <a:stretch>
            <a:fillRect/>
          </a:stretch>
        </p:blipFill>
        <p:spPr>
          <a:xfrm>
            <a:off x="7232231" y="-22861"/>
            <a:ext cx="1916769" cy="411482"/>
          </a:xfrm>
          <a:prstGeom prst="rect">
            <a:avLst/>
          </a:prstGeom>
          <a:ln w="12700">
            <a:miter lim="400000"/>
          </a:ln>
        </p:spPr>
      </p:pic>
      <p:sp>
        <p:nvSpPr>
          <p:cNvPr id="3" name="Text Placeholder 2">
            <a:extLst>
              <a:ext uri="{FF2B5EF4-FFF2-40B4-BE49-F238E27FC236}">
                <a16:creationId xmlns:a16="http://schemas.microsoft.com/office/drawing/2014/main" id="{1DA321ED-4632-28EE-02BC-542471678E85}"/>
              </a:ext>
            </a:extLst>
          </p:cNvPr>
          <p:cNvSpPr>
            <a:spLocks noGrp="1" noChangeArrowheads="1"/>
          </p:cNvSpPr>
          <p:nvPr>
            <p:ph type="body" idx="1"/>
          </p:nvPr>
        </p:nvSpPr>
        <p:spPr bwMode="auto">
          <a:xfrm>
            <a:off x="219919" y="1692278"/>
            <a:ext cx="892408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SzTx/>
              <a:buFontTx/>
              <a:buChar char="•"/>
            </a:pPr>
            <a:r>
              <a:rPr lang="en-US" altLang="en-US" sz="2000" b="1">
                <a:solidFill>
                  <a:schemeClr val="tx1"/>
                </a:solidFill>
                <a:latin typeface="Arial" panose="020B0604020202020204" pitchFamily="34" charset="0"/>
              </a:rPr>
              <a:t>To develop a lightweight AI model</a:t>
            </a:r>
            <a:r>
              <a:rPr lang="en-US" altLang="en-US" sz="2000">
                <a:solidFill>
                  <a:schemeClr val="tx1"/>
                </a:solidFill>
                <a:latin typeface="Arial" panose="020B0604020202020204" pitchFamily="34" charset="0"/>
              </a:rPr>
              <a:t> specifically for code debugging and 	simplification using the BDH-GPU architecture.</a:t>
            </a:r>
          </a:p>
          <a:p>
            <a:pPr marL="0" lvl="0" indent="0" defTabSz="914400" eaLnBrk="0" fontAlgn="base" hangingPunct="0">
              <a:spcBef>
                <a:spcPct val="0"/>
              </a:spcBef>
              <a:spcAft>
                <a:spcPct val="0"/>
              </a:spcAft>
              <a:buSzTx/>
              <a:buFontTx/>
              <a:buChar char="•"/>
            </a:pPr>
            <a:r>
              <a:rPr lang="en-US" altLang="en-US" sz="2000" b="1">
                <a:solidFill>
                  <a:schemeClr val="tx1"/>
                </a:solidFill>
                <a:latin typeface="Arial" panose="020B0604020202020204" pitchFamily="34" charset="0"/>
              </a:rPr>
              <a:t>To implement Knowledge Distillation</a:t>
            </a:r>
            <a:r>
              <a:rPr lang="en-US" altLang="en-US" sz="2000">
                <a:solidFill>
                  <a:schemeClr val="tx1"/>
                </a:solidFill>
                <a:latin typeface="Arial" panose="020B0604020202020204" pitchFamily="34" charset="0"/>
              </a:rPr>
              <a:t> to transfer reasoning logic from 	high-capacity "Teacher" models into a compact "Student" framework.</a:t>
            </a:r>
          </a:p>
          <a:p>
            <a:pPr marL="0" lvl="0" indent="0" defTabSz="914400" eaLnBrk="0" fontAlgn="base" hangingPunct="0">
              <a:spcBef>
                <a:spcPct val="0"/>
              </a:spcBef>
              <a:spcAft>
                <a:spcPct val="0"/>
              </a:spcAft>
              <a:buSzTx/>
              <a:buFontTx/>
              <a:buChar char="•"/>
            </a:pPr>
            <a:r>
              <a:rPr lang="en-US" altLang="en-US" sz="2000" b="1">
                <a:solidFill>
                  <a:schemeClr val="tx1"/>
                </a:solidFill>
                <a:latin typeface="Arial" panose="020B0604020202020204" pitchFamily="34" charset="0"/>
              </a:rPr>
              <a:t>To optimize for low-latency performance</a:t>
            </a:r>
            <a:r>
              <a:rPr lang="en-US" altLang="en-US" sz="2000">
                <a:solidFill>
                  <a:schemeClr val="tx1"/>
                </a:solidFill>
                <a:latin typeface="Arial" panose="020B0604020202020204" pitchFamily="34" charset="0"/>
              </a:rPr>
              <a:t>, allowing for real-time code 	fixes on consumer-grade hardware.</a:t>
            </a:r>
          </a:p>
          <a:p>
            <a:pPr marL="0" lvl="0" indent="0" defTabSz="914400" eaLnBrk="0" fontAlgn="base" hangingPunct="0">
              <a:spcBef>
                <a:spcPct val="0"/>
              </a:spcBef>
              <a:spcAft>
                <a:spcPct val="0"/>
              </a:spcAft>
              <a:buSzTx/>
              <a:buFontTx/>
              <a:buChar char="•"/>
            </a:pPr>
            <a:r>
              <a:rPr lang="en-US" altLang="en-US" sz="2000" b="1">
                <a:solidFill>
                  <a:schemeClr val="tx1"/>
                </a:solidFill>
                <a:latin typeface="Arial" panose="020B0604020202020204" pitchFamily="34" charset="0"/>
              </a:rPr>
              <a:t>To reduce computational overhead</a:t>
            </a:r>
            <a:r>
              <a:rPr lang="en-US" altLang="en-US" sz="2000">
                <a:solidFill>
                  <a:schemeClr val="tx1"/>
                </a:solidFill>
                <a:latin typeface="Arial" panose="020B0604020202020204" pitchFamily="34" charset="0"/>
              </a:rPr>
              <a:t> by focusing on localized syntax and 	deterministic code transformations.</a:t>
            </a:r>
          </a:p>
          <a:p>
            <a:pPr marL="0" lvl="0" indent="0" defTabSz="914400" eaLnBrk="0" fontAlgn="base" hangingPunct="0">
              <a:spcBef>
                <a:spcPct val="0"/>
              </a:spcBef>
              <a:spcAft>
                <a:spcPct val="0"/>
              </a:spcAft>
              <a:buSzTx/>
              <a:buFontTx/>
              <a:buChar char="•"/>
            </a:pPr>
            <a:r>
              <a:rPr lang="en-US" altLang="en-US" sz="2000" b="1">
                <a:solidFill>
                  <a:schemeClr val="tx1"/>
                </a:solidFill>
                <a:latin typeface="Arial" panose="020B0604020202020204" pitchFamily="34" charset="0"/>
              </a:rPr>
              <a:t>To provide automated refactoring</a:t>
            </a:r>
            <a:r>
              <a:rPr lang="en-US" altLang="en-US" sz="2000">
                <a:solidFill>
                  <a:schemeClr val="tx1"/>
                </a:solidFill>
                <a:latin typeface="Arial" panose="020B0604020202020204" pitchFamily="34" charset="0"/>
              </a:rPr>
              <a:t> that simplifies complex code 	implementations into more readable, Pythonic structures.</a:t>
            </a:r>
          </a:p>
          <a:p>
            <a:pPr marL="0" lvl="0" indent="0" defTabSz="914400" eaLnBrk="0" fontAlgn="base" hangingPunct="0">
              <a:spcBef>
                <a:spcPct val="0"/>
              </a:spcBef>
              <a:spcAft>
                <a:spcPct val="0"/>
              </a:spcAft>
              <a:buSzTx/>
              <a:buFontTx/>
              <a:buChar char="•"/>
            </a:pPr>
            <a:r>
              <a:rPr lang="en-US" altLang="en-US" sz="2000" b="1">
                <a:solidFill>
                  <a:schemeClr val="tx1"/>
                </a:solidFill>
                <a:latin typeface="Arial" panose="020B0604020202020204" pitchFamily="34" charset="0"/>
              </a:rPr>
              <a:t>To validate the efficiency</a:t>
            </a:r>
            <a:r>
              <a:rPr lang="en-US" altLang="en-US" sz="2000">
                <a:solidFill>
                  <a:schemeClr val="tx1"/>
                </a:solidFill>
                <a:latin typeface="Arial" panose="020B0604020202020204" pitchFamily="34" charset="0"/>
              </a:rPr>
              <a:t> of specialized, task-specific architectures 	compared to general-purpose Transformers.</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itle 1"/>
          <p:cNvSpPr txBox="1">
            <a:spLocks noGrp="1"/>
          </p:cNvSpPr>
          <p:nvPr>
            <p:ph type="title"/>
          </p:nvPr>
        </p:nvSpPr>
        <p:spPr>
          <a:xfrm>
            <a:off x="457200" y="284470"/>
            <a:ext cx="8229600" cy="1143001"/>
          </a:xfrm>
          <a:prstGeom prst="rect">
            <a:avLst/>
          </a:prstGeom>
        </p:spPr>
        <p:txBody>
          <a:bodyPr>
            <a:normAutofit/>
          </a:bodyPr>
          <a:lstStyle/>
          <a:p>
            <a:r>
              <a:rPr sz="4000" b="1"/>
              <a:t>Proposed System / Approach</a:t>
            </a:r>
          </a:p>
        </p:txBody>
      </p:sp>
      <p:sp>
        <p:nvSpPr>
          <p:cNvPr id="127" name="Content Placeholder 2"/>
          <p:cNvSpPr txBox="1">
            <a:spLocks noGrp="1"/>
          </p:cNvSpPr>
          <p:nvPr>
            <p:ph type="body" idx="1"/>
          </p:nvPr>
        </p:nvSpPr>
        <p:spPr>
          <a:xfrm>
            <a:off x="457200" y="1600200"/>
            <a:ext cx="8229600" cy="4525963"/>
          </a:xfrm>
          <a:prstGeom prst="rect">
            <a:avLst/>
          </a:prstGeom>
        </p:spPr>
        <p:txBody>
          <a:bodyPr lIns="45719" tIns="45720" rIns="45719" bIns="45720" anchor="t">
            <a:normAutofit fontScale="92500" lnSpcReduction="10000"/>
          </a:bodyPr>
          <a:lstStyle/>
          <a:p>
            <a:pPr marL="0" indent="0" algn="just">
              <a:buNone/>
            </a:pPr>
            <a:r>
              <a:rPr lang="en-GB" sz="2400"/>
              <a:t>The proposed system is a lightweight code-processing framework designed to identify syntax errors and simplify complex code structures. By utilizing the BDH-GPU architecture, the system processes code through high-dimensional sparse latent spaces, allowing it to focus on localized structural patterns without the overhead of dense global attention.</a:t>
            </a:r>
          </a:p>
          <a:p>
            <a:pPr marL="0" indent="0" algn="just">
              <a:buNone/>
            </a:pPr>
            <a:r>
              <a:rPr lang="en-GB" sz="2400"/>
              <a:t>The core approach </a:t>
            </a:r>
            <a:r>
              <a:rPr lang="en-GB" sz="2400" err="1"/>
              <a:t>centers</a:t>
            </a:r>
            <a:r>
              <a:rPr lang="en-GB" sz="2400"/>
              <a:t> on Knowledge Distillation, where a pre-trained "Teacher" LLM guides the training of a compact 150M parameter student model. This distillation process transfers complex reasoning capabilities into the lightweight student, enabling it to perform deterministic code fixes with high speed. The final application provides real-time, low-latency debugging and refactoring, making it suitable for deployment on standard consumer-grade hardware.</a:t>
            </a:r>
          </a:p>
        </p:txBody>
      </p:sp>
      <p:sp>
        <p:nvSpPr>
          <p:cNvPr id="128" name="Rectangle 3"/>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29" name="Picture 4" descr="Picture 4"/>
          <p:cNvPicPr>
            <a:picLocks noChangeAspect="1"/>
          </p:cNvPicPr>
          <p:nvPr/>
        </p:nvPicPr>
        <p:blipFill>
          <a:blip r:embed="rId2"/>
          <a:stretch>
            <a:fillRect/>
          </a:stretch>
        </p:blipFill>
        <p:spPr>
          <a:xfrm>
            <a:off x="7223926" y="-22861"/>
            <a:ext cx="1916769" cy="411482"/>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itle 1"/>
          <p:cNvSpPr txBox="1">
            <a:spLocks noGrp="1"/>
          </p:cNvSpPr>
          <p:nvPr>
            <p:ph type="title"/>
          </p:nvPr>
        </p:nvSpPr>
        <p:spPr>
          <a:prstGeom prst="rect">
            <a:avLst/>
          </a:prstGeom>
        </p:spPr>
        <p:txBody>
          <a:bodyPr>
            <a:normAutofit/>
          </a:bodyPr>
          <a:lstStyle/>
          <a:p>
            <a:r>
              <a:rPr sz="4000" b="1"/>
              <a:t>Methodology</a:t>
            </a:r>
          </a:p>
        </p:txBody>
      </p:sp>
      <p:sp>
        <p:nvSpPr>
          <p:cNvPr id="133" name="Rectangle 3"/>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34" name="Picture 4" descr="Picture 4"/>
          <p:cNvPicPr>
            <a:picLocks noChangeAspect="1"/>
          </p:cNvPicPr>
          <p:nvPr/>
        </p:nvPicPr>
        <p:blipFill>
          <a:blip r:embed="rId2"/>
          <a:stretch>
            <a:fillRect/>
          </a:stretch>
        </p:blipFill>
        <p:spPr>
          <a:xfrm>
            <a:off x="7232231" y="-22861"/>
            <a:ext cx="1916769" cy="411482"/>
          </a:xfrm>
          <a:prstGeom prst="rect">
            <a:avLst/>
          </a:prstGeom>
          <a:ln w="12700">
            <a:miter lim="400000"/>
          </a:ln>
        </p:spPr>
      </p:pic>
      <p:sp>
        <p:nvSpPr>
          <p:cNvPr id="2" name="Text Placeholder 1">
            <a:extLst>
              <a:ext uri="{FF2B5EF4-FFF2-40B4-BE49-F238E27FC236}">
                <a16:creationId xmlns:a16="http://schemas.microsoft.com/office/drawing/2014/main" id="{93EBE2CE-A391-7106-E24B-B20E77F75E51}"/>
              </a:ext>
            </a:extLst>
          </p:cNvPr>
          <p:cNvSpPr>
            <a:spLocks noGrp="1" noChangeArrowheads="1"/>
          </p:cNvSpPr>
          <p:nvPr>
            <p:ph type="body" idx="1"/>
          </p:nvPr>
        </p:nvSpPr>
        <p:spPr bwMode="auto">
          <a:xfrm>
            <a:off x="457200" y="1415280"/>
            <a:ext cx="831641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SzTx/>
              <a:buFontTx/>
              <a:buChar char="•"/>
            </a:pPr>
            <a:r>
              <a:rPr lang="en-US" altLang="en-US" sz="1800" b="1">
                <a:solidFill>
                  <a:schemeClr val="tx1"/>
                </a:solidFill>
                <a:latin typeface="Arial" panose="020B0604020202020204" pitchFamily="34" charset="0"/>
              </a:rPr>
              <a:t>Dataset Generation:</a:t>
            </a:r>
            <a:r>
              <a:rPr lang="en-US" altLang="en-US" sz="1800">
                <a:solidFill>
                  <a:schemeClr val="tx1"/>
                </a:solidFill>
                <a:latin typeface="Arial" panose="020B0604020202020204" pitchFamily="34" charset="0"/>
              </a:rPr>
              <a:t> Programmatic injection of common syntax and logical 	bugs into permissively licensed Python source code to create     	"Buggy → Fixed" training pairs.</a:t>
            </a:r>
          </a:p>
          <a:p>
            <a:pPr marL="0" lvl="0" indent="0" defTabSz="914400" eaLnBrk="0" fontAlgn="base" hangingPunct="0">
              <a:spcBef>
                <a:spcPct val="0"/>
              </a:spcBef>
              <a:spcAft>
                <a:spcPct val="0"/>
              </a:spcAft>
              <a:buSzTx/>
              <a:buFontTx/>
              <a:buChar char="•"/>
            </a:pPr>
            <a:r>
              <a:rPr lang="en-US" altLang="en-US" sz="1800" b="1">
                <a:solidFill>
                  <a:schemeClr val="tx1"/>
                </a:solidFill>
                <a:latin typeface="Arial" panose="020B0604020202020204" pitchFamily="34" charset="0"/>
              </a:rPr>
              <a:t>Knowledge Distillation:</a:t>
            </a:r>
            <a:r>
              <a:rPr lang="en-US" altLang="en-US" sz="1800">
                <a:solidFill>
                  <a:schemeClr val="tx1"/>
                </a:solidFill>
                <a:latin typeface="Arial" panose="020B0604020202020204" pitchFamily="34" charset="0"/>
              </a:rPr>
              <a:t> Implementing a teacher-student framework where a 	high-capacity Teacher LLM transfers structural reasoning to the 	lightweight student.</a:t>
            </a:r>
          </a:p>
          <a:p>
            <a:pPr marL="0" lvl="0" indent="0" defTabSz="914400" eaLnBrk="0" fontAlgn="base" hangingPunct="0">
              <a:spcBef>
                <a:spcPct val="0"/>
              </a:spcBef>
              <a:spcAft>
                <a:spcPct val="0"/>
              </a:spcAft>
              <a:buSzTx/>
              <a:buFontTx/>
              <a:buChar char="•"/>
            </a:pPr>
            <a:r>
              <a:rPr lang="en-US" altLang="en-US" sz="1800" b="1">
                <a:solidFill>
                  <a:schemeClr val="tx1"/>
                </a:solidFill>
                <a:latin typeface="Arial" panose="020B0604020202020204" pitchFamily="34" charset="0"/>
              </a:rPr>
              <a:t>Architecture Optimization:</a:t>
            </a:r>
            <a:r>
              <a:rPr lang="en-US" altLang="en-US" sz="1800">
                <a:solidFill>
                  <a:schemeClr val="tx1"/>
                </a:solidFill>
                <a:latin typeface="Arial" panose="020B0604020202020204" pitchFamily="34" charset="0"/>
              </a:rPr>
              <a:t> Utilizing the </a:t>
            </a:r>
            <a:r>
              <a:rPr lang="en-US" altLang="en-US" sz="1800" b="1">
                <a:solidFill>
                  <a:schemeClr val="tx1"/>
                </a:solidFill>
                <a:latin typeface="Arial" panose="020B0604020202020204" pitchFamily="34" charset="0"/>
              </a:rPr>
              <a:t>BDH (Baby Dragon Hatchling)</a:t>
            </a:r>
            <a:r>
              <a:rPr lang="en-US" altLang="en-US" sz="1800">
                <a:solidFill>
                  <a:schemeClr val="tx1"/>
                </a:solidFill>
                <a:latin typeface="Arial" panose="020B0604020202020204" pitchFamily="34" charset="0"/>
              </a:rPr>
              <a:t> 	decoder-only model, featuring rotary positional embeddings (</a:t>
            </a:r>
            <a:r>
              <a:rPr lang="en-US" altLang="en-US" sz="1800" err="1">
                <a:solidFill>
                  <a:schemeClr val="tx1"/>
                </a:solidFill>
                <a:latin typeface="Arial" panose="020B0604020202020204" pitchFamily="34" charset="0"/>
              </a:rPr>
              <a:t>RoPE</a:t>
            </a:r>
            <a:r>
              <a:rPr lang="en-US" altLang="en-US" sz="1800">
                <a:solidFill>
                  <a:schemeClr val="tx1"/>
                </a:solidFill>
                <a:latin typeface="Arial" panose="020B0604020202020204" pitchFamily="34" charset="0"/>
              </a:rPr>
              <a:t>) 	and sparse latent projections.</a:t>
            </a:r>
          </a:p>
          <a:p>
            <a:pPr marL="0" lvl="0" indent="0" defTabSz="914400" eaLnBrk="0" fontAlgn="base" hangingPunct="0">
              <a:spcBef>
                <a:spcPct val="0"/>
              </a:spcBef>
              <a:spcAft>
                <a:spcPct val="0"/>
              </a:spcAft>
              <a:buSzTx/>
              <a:buFontTx/>
              <a:buChar char="•"/>
            </a:pPr>
            <a:r>
              <a:rPr lang="en-US" altLang="en-US" sz="1800" b="1">
                <a:solidFill>
                  <a:schemeClr val="tx1"/>
                </a:solidFill>
                <a:latin typeface="Arial" panose="020B0604020202020204" pitchFamily="34" charset="0"/>
              </a:rPr>
              <a:t>Fine-Tuning:</a:t>
            </a:r>
            <a:r>
              <a:rPr lang="en-US" altLang="en-US" sz="1800">
                <a:solidFill>
                  <a:schemeClr val="tx1"/>
                </a:solidFill>
                <a:latin typeface="Arial" panose="020B0604020202020204" pitchFamily="34" charset="0"/>
              </a:rPr>
              <a:t> Task-specific training using mixed-precision (BF16) and gradient 	checkpointing to ensure high accuracy within restricted compute limits.</a:t>
            </a:r>
          </a:p>
          <a:p>
            <a:pPr marL="0" lvl="0" indent="0" defTabSz="914400" eaLnBrk="0" fontAlgn="base" hangingPunct="0">
              <a:spcBef>
                <a:spcPct val="0"/>
              </a:spcBef>
              <a:spcAft>
                <a:spcPct val="0"/>
              </a:spcAft>
              <a:buSzTx/>
              <a:buFontTx/>
              <a:buChar char="•"/>
            </a:pPr>
            <a:r>
              <a:rPr lang="en-US" altLang="en-US" sz="1800" b="1">
                <a:solidFill>
                  <a:schemeClr val="tx1"/>
                </a:solidFill>
                <a:latin typeface="Arial" panose="020B0604020202020204" pitchFamily="34" charset="0"/>
              </a:rPr>
              <a:t>Model Compression:</a:t>
            </a:r>
            <a:r>
              <a:rPr lang="en-US" altLang="en-US" sz="1800">
                <a:solidFill>
                  <a:schemeClr val="tx1"/>
                </a:solidFill>
                <a:latin typeface="Arial" panose="020B0604020202020204" pitchFamily="34" charset="0"/>
              </a:rPr>
              <a:t> Applying 8-bit quantization to further reduce the memory 	footprint and enhance inference speed on consumer-grade CPUs and 	GPUs.</a:t>
            </a:r>
          </a:p>
          <a:p>
            <a:pPr marL="0" lvl="0" indent="0" defTabSz="914400" eaLnBrk="0" fontAlgn="base" hangingPunct="0">
              <a:spcBef>
                <a:spcPct val="0"/>
              </a:spcBef>
              <a:spcAft>
                <a:spcPct val="0"/>
              </a:spcAft>
              <a:buSzTx/>
              <a:buFontTx/>
              <a:buChar char="•"/>
            </a:pPr>
            <a:r>
              <a:rPr lang="en-US" altLang="en-US" sz="1800" b="1">
                <a:solidFill>
                  <a:schemeClr val="tx1"/>
                </a:solidFill>
                <a:latin typeface="Arial" panose="020B0604020202020204" pitchFamily="34" charset="0"/>
              </a:rPr>
              <a:t>Performance Evaluation:</a:t>
            </a:r>
            <a:r>
              <a:rPr lang="en-US" altLang="en-US" sz="1800">
                <a:solidFill>
                  <a:schemeClr val="tx1"/>
                </a:solidFill>
                <a:latin typeface="Arial" panose="020B0604020202020204" pitchFamily="34" charset="0"/>
              </a:rPr>
              <a:t> Measuring success through </a:t>
            </a:r>
            <a:r>
              <a:rPr lang="en-US" altLang="en-US" sz="1800" b="1">
                <a:solidFill>
                  <a:schemeClr val="tx1"/>
                </a:solidFill>
                <a:latin typeface="Arial" panose="020B0604020202020204" pitchFamily="34" charset="0"/>
              </a:rPr>
              <a:t>Pass@1 accuracy</a:t>
            </a:r>
            <a:r>
              <a:rPr lang="en-US" altLang="en-US" sz="1800">
                <a:solidFill>
                  <a:schemeClr val="tx1"/>
                </a:solidFill>
                <a:latin typeface="Arial" panose="020B0604020202020204" pitchFamily="34" charset="0"/>
              </a:rPr>
              <a:t>, 	Abstract Syntax Tree (AST) matching, and inference latency 	benchmarks.</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itle 1"/>
          <p:cNvSpPr txBox="1">
            <a:spLocks noGrp="1"/>
          </p:cNvSpPr>
          <p:nvPr>
            <p:ph type="title"/>
          </p:nvPr>
        </p:nvSpPr>
        <p:spPr>
          <a:prstGeom prst="rect">
            <a:avLst/>
          </a:prstGeom>
        </p:spPr>
        <p:txBody>
          <a:bodyPr>
            <a:normAutofit/>
          </a:bodyPr>
          <a:lstStyle>
            <a:lvl1pPr defTabSz="448055">
              <a:defRPr sz="4312"/>
            </a:lvl1pPr>
          </a:lstStyle>
          <a:p>
            <a:r>
              <a:rPr sz="4000" b="1"/>
              <a:t>System Architecture / Block Diagram</a:t>
            </a:r>
          </a:p>
        </p:txBody>
      </p:sp>
      <p:sp>
        <p:nvSpPr>
          <p:cNvPr id="137" name="Content Placeholder 2"/>
          <p:cNvSpPr txBox="1">
            <a:spLocks noGrp="1"/>
          </p:cNvSpPr>
          <p:nvPr>
            <p:ph type="body" idx="1"/>
          </p:nvPr>
        </p:nvSpPr>
        <p:spPr>
          <a:xfrm>
            <a:off x="457200" y="1600200"/>
            <a:ext cx="8229600" cy="4983162"/>
          </a:xfrm>
          <a:prstGeom prst="rect">
            <a:avLst/>
          </a:prstGeom>
        </p:spPr>
        <p:txBody>
          <a:bodyPr>
            <a:normAutofit/>
          </a:bodyPr>
          <a:lstStyle/>
          <a:p>
            <a:pPr marL="0" lvl="0" indent="0" defTabSz="914400" eaLnBrk="0" fontAlgn="base" hangingPunct="0">
              <a:spcBef>
                <a:spcPct val="0"/>
              </a:spcBef>
              <a:spcAft>
                <a:spcPct val="0"/>
              </a:spcAft>
              <a:buSzTx/>
              <a:buFontTx/>
              <a:buChar char="•"/>
            </a:pPr>
            <a:r>
              <a:rPr lang="en-US" altLang="en-US" sz="2000" b="1">
                <a:solidFill>
                  <a:schemeClr val="tx1"/>
                </a:solidFill>
                <a:latin typeface="Arial" panose="020B0604020202020204" pitchFamily="34" charset="0"/>
              </a:rPr>
              <a:t>Input Layer:</a:t>
            </a:r>
            <a:r>
              <a:rPr lang="en-US" altLang="en-US" sz="2000">
                <a:solidFill>
                  <a:schemeClr val="tx1"/>
                </a:solidFill>
                <a:latin typeface="Arial" panose="020B0604020202020204" pitchFamily="34" charset="0"/>
              </a:rPr>
              <a:t> Receives messy or buggy Python code snippets from the 	user.</a:t>
            </a:r>
          </a:p>
          <a:p>
            <a:pPr marL="0" lvl="0" indent="0" defTabSz="914400" eaLnBrk="0" fontAlgn="base" hangingPunct="0">
              <a:spcBef>
                <a:spcPct val="0"/>
              </a:spcBef>
              <a:spcAft>
                <a:spcPct val="0"/>
              </a:spcAft>
              <a:buSzTx/>
              <a:buFontTx/>
              <a:buChar char="•"/>
            </a:pPr>
            <a:r>
              <a:rPr lang="en-US" altLang="en-US" sz="2000" b="1">
                <a:solidFill>
                  <a:schemeClr val="tx1"/>
                </a:solidFill>
                <a:latin typeface="Arial" panose="020B0604020202020204" pitchFamily="34" charset="0"/>
              </a:rPr>
              <a:t>Preprocessing Module:</a:t>
            </a:r>
            <a:r>
              <a:rPr lang="en-US" altLang="en-US" sz="2000">
                <a:solidFill>
                  <a:schemeClr val="tx1"/>
                </a:solidFill>
                <a:latin typeface="Arial" panose="020B0604020202020204" pitchFamily="34" charset="0"/>
              </a:rPr>
              <a:t> Performs tokenization using byte-level 	BPE (Byte Pair Encoding) to handle complex code 	symbols.</a:t>
            </a:r>
          </a:p>
          <a:p>
            <a:pPr marL="0" lvl="0" indent="0" defTabSz="914400" eaLnBrk="0" fontAlgn="base" hangingPunct="0">
              <a:spcBef>
                <a:spcPct val="0"/>
              </a:spcBef>
              <a:spcAft>
                <a:spcPct val="0"/>
              </a:spcAft>
              <a:buSzTx/>
              <a:buFontTx/>
              <a:buChar char="•"/>
            </a:pPr>
            <a:r>
              <a:rPr lang="en-US" altLang="en-US" sz="2000" b="1">
                <a:solidFill>
                  <a:schemeClr val="tx1"/>
                </a:solidFill>
                <a:latin typeface="Arial" panose="020B0604020202020204" pitchFamily="34" charset="0"/>
              </a:rPr>
              <a:t>BDH Core Engine:</a:t>
            </a:r>
            <a:endParaRPr lang="en-US" altLang="en-US" sz="2000">
              <a:solidFill>
                <a:schemeClr val="tx1"/>
              </a:solidFill>
              <a:latin typeface="Arial" panose="020B0604020202020204" pitchFamily="34" charset="0"/>
            </a:endParaRPr>
          </a:p>
          <a:p>
            <a:pPr marL="876300" lvl="2" indent="0" defTabSz="914400" eaLnBrk="0" fontAlgn="base" hangingPunct="0">
              <a:spcBef>
                <a:spcPct val="0"/>
              </a:spcBef>
              <a:spcAft>
                <a:spcPct val="0"/>
              </a:spcAft>
              <a:buSzTx/>
              <a:buFontTx/>
              <a:buChar char="•"/>
            </a:pPr>
            <a:r>
              <a:rPr lang="en-US" altLang="en-US" sz="2000" b="1">
                <a:solidFill>
                  <a:schemeClr val="tx1"/>
                </a:solidFill>
                <a:latin typeface="Arial" panose="020B0604020202020204" pitchFamily="34" charset="0"/>
              </a:rPr>
              <a:t>Rotary Embeddings (</a:t>
            </a:r>
            <a:r>
              <a:rPr lang="en-US" altLang="en-US" sz="2000" b="1" err="1">
                <a:solidFill>
                  <a:schemeClr val="tx1"/>
                </a:solidFill>
                <a:latin typeface="Arial" panose="020B0604020202020204" pitchFamily="34" charset="0"/>
              </a:rPr>
              <a:t>RoPE</a:t>
            </a:r>
            <a:r>
              <a:rPr lang="en-US" altLang="en-US" sz="2000" b="1">
                <a:solidFill>
                  <a:schemeClr val="tx1"/>
                </a:solidFill>
                <a:latin typeface="Arial" panose="020B0604020202020204" pitchFamily="34" charset="0"/>
              </a:rPr>
              <a:t>):</a:t>
            </a:r>
            <a:r>
              <a:rPr lang="en-US" altLang="en-US" sz="2000">
                <a:solidFill>
                  <a:schemeClr val="tx1"/>
                </a:solidFill>
                <a:latin typeface="Arial" panose="020B0604020202020204" pitchFamily="34" charset="0"/>
              </a:rPr>
              <a:t> Provides relative positional 	awareness within the code structure.</a:t>
            </a:r>
          </a:p>
          <a:p>
            <a:pPr marL="876300" lvl="2" indent="0" defTabSz="914400" eaLnBrk="0" fontAlgn="base" hangingPunct="0">
              <a:spcBef>
                <a:spcPct val="0"/>
              </a:spcBef>
              <a:spcAft>
                <a:spcPct val="0"/>
              </a:spcAft>
              <a:buSzTx/>
              <a:buFontTx/>
              <a:buChar char="•"/>
            </a:pPr>
            <a:r>
              <a:rPr lang="en-US" altLang="en-US" sz="2000" b="1">
                <a:solidFill>
                  <a:schemeClr val="tx1"/>
                </a:solidFill>
                <a:latin typeface="Arial" panose="020B0604020202020204" pitchFamily="34" charset="0"/>
              </a:rPr>
              <a:t>Sparse Latent Layers:</a:t>
            </a:r>
            <a:r>
              <a:rPr lang="en-US" altLang="en-US" sz="2000">
                <a:solidFill>
                  <a:schemeClr val="tx1"/>
                </a:solidFill>
                <a:latin typeface="Arial" panose="020B0604020202020204" pitchFamily="34" charset="0"/>
              </a:rPr>
              <a:t> Expands input into high-dimensional 	space to identify local structural patterns.</a:t>
            </a:r>
          </a:p>
          <a:p>
            <a:pPr marL="876300" lvl="2" indent="0" defTabSz="914400" eaLnBrk="0" fontAlgn="base" hangingPunct="0">
              <a:spcBef>
                <a:spcPct val="0"/>
              </a:spcBef>
              <a:spcAft>
                <a:spcPct val="0"/>
              </a:spcAft>
              <a:buSzTx/>
              <a:buFontTx/>
              <a:buChar char="•"/>
            </a:pPr>
            <a:r>
              <a:rPr lang="en-US" altLang="en-US" sz="2000" b="1">
                <a:solidFill>
                  <a:schemeClr val="tx1"/>
                </a:solidFill>
                <a:latin typeface="Arial" panose="020B0604020202020204" pitchFamily="34" charset="0"/>
              </a:rPr>
              <a:t>Gated Interactions:</a:t>
            </a:r>
            <a:r>
              <a:rPr lang="en-US" altLang="en-US" sz="2000">
                <a:solidFill>
                  <a:schemeClr val="tx1"/>
                </a:solidFill>
                <a:latin typeface="Arial" panose="020B0604020202020204" pitchFamily="34" charset="0"/>
              </a:rPr>
              <a:t> Multiplicative filtering to isolate logical 	flaws.</a:t>
            </a:r>
          </a:p>
          <a:p>
            <a:pPr marL="0" lvl="0" indent="0" defTabSz="914400" eaLnBrk="0" fontAlgn="base" hangingPunct="0">
              <a:spcBef>
                <a:spcPct val="0"/>
              </a:spcBef>
              <a:spcAft>
                <a:spcPct val="0"/>
              </a:spcAft>
              <a:buSzTx/>
              <a:buFontTx/>
              <a:buChar char="•"/>
            </a:pPr>
            <a:r>
              <a:rPr lang="en-US" altLang="en-US" sz="2000" b="1">
                <a:solidFill>
                  <a:schemeClr val="tx1"/>
                </a:solidFill>
                <a:latin typeface="Arial" panose="020B0604020202020204" pitchFamily="34" charset="0"/>
              </a:rPr>
              <a:t>Inference Controller:</a:t>
            </a:r>
            <a:r>
              <a:rPr lang="en-US" altLang="en-US" sz="2000">
                <a:solidFill>
                  <a:schemeClr val="tx1"/>
                </a:solidFill>
                <a:latin typeface="Arial" panose="020B0604020202020204" pitchFamily="34" charset="0"/>
              </a:rPr>
              <a:t> Manages token generation with 	temperature 	and top-k sampling for diverse refactoring options.</a:t>
            </a:r>
          </a:p>
          <a:p>
            <a:pPr marL="0" lvl="0" indent="0" defTabSz="914400" eaLnBrk="0" fontAlgn="base" hangingPunct="0">
              <a:spcBef>
                <a:spcPct val="0"/>
              </a:spcBef>
              <a:spcAft>
                <a:spcPct val="0"/>
              </a:spcAft>
              <a:buSzTx/>
              <a:buFontTx/>
              <a:buChar char="•"/>
            </a:pPr>
            <a:r>
              <a:rPr lang="en-US" altLang="en-US" sz="2000" b="1">
                <a:solidFill>
                  <a:schemeClr val="tx1"/>
                </a:solidFill>
                <a:latin typeface="Arial" panose="020B0604020202020204" pitchFamily="34" charset="0"/>
              </a:rPr>
              <a:t>Post-Processing:</a:t>
            </a:r>
            <a:r>
              <a:rPr lang="en-US" altLang="en-US" sz="2000">
                <a:solidFill>
                  <a:schemeClr val="tx1"/>
                </a:solidFill>
                <a:latin typeface="Arial" panose="020B0604020202020204" pitchFamily="34" charset="0"/>
              </a:rPr>
              <a:t> Formats the output into clean, simplified, and 	executable Python code.</a:t>
            </a:r>
          </a:p>
        </p:txBody>
      </p:sp>
      <p:sp>
        <p:nvSpPr>
          <p:cNvPr id="138" name="Rectangle 3"/>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39" name="Picture 4" descr="Picture 4"/>
          <p:cNvPicPr>
            <a:picLocks noChangeAspect="1"/>
          </p:cNvPicPr>
          <p:nvPr/>
        </p:nvPicPr>
        <p:blipFill>
          <a:blip r:embed="rId2"/>
          <a:stretch>
            <a:fillRect/>
          </a:stretch>
        </p:blipFill>
        <p:spPr>
          <a:xfrm>
            <a:off x="7223926" y="-22861"/>
            <a:ext cx="1916769" cy="411482"/>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24D6C-3750-5CE3-CF62-2F444340BFD4}"/>
            </a:ext>
          </a:extLst>
        </p:cNvPr>
        <p:cNvGrpSpPr/>
        <p:nvPr/>
      </p:nvGrpSpPr>
      <p:grpSpPr>
        <a:xfrm>
          <a:off x="0" y="0"/>
          <a:ext cx="0" cy="0"/>
          <a:chOff x="0" y="0"/>
          <a:chExt cx="0" cy="0"/>
        </a:xfrm>
      </p:grpSpPr>
      <p:sp>
        <p:nvSpPr>
          <p:cNvPr id="141" name="Title 1">
            <a:extLst>
              <a:ext uri="{FF2B5EF4-FFF2-40B4-BE49-F238E27FC236}">
                <a16:creationId xmlns:a16="http://schemas.microsoft.com/office/drawing/2014/main" id="{614F36B2-FEF8-31CC-BB39-2DF09E0FBA10}"/>
              </a:ext>
            </a:extLst>
          </p:cNvPr>
          <p:cNvSpPr txBox="1">
            <a:spLocks noGrp="1"/>
          </p:cNvSpPr>
          <p:nvPr>
            <p:ph type="title"/>
          </p:nvPr>
        </p:nvSpPr>
        <p:spPr>
          <a:xfrm>
            <a:off x="457200" y="109136"/>
            <a:ext cx="8229600" cy="1143001"/>
          </a:xfrm>
          <a:prstGeom prst="rect">
            <a:avLst/>
          </a:prstGeom>
        </p:spPr>
        <p:txBody>
          <a:bodyPr>
            <a:normAutofit/>
          </a:bodyPr>
          <a:lstStyle/>
          <a:p>
            <a:r>
              <a:rPr sz="4000" b="1"/>
              <a:t>Workflow Diagram / Flowchart</a:t>
            </a:r>
          </a:p>
        </p:txBody>
      </p:sp>
      <p:sp>
        <p:nvSpPr>
          <p:cNvPr id="143" name="Rectangle 3">
            <a:extLst>
              <a:ext uri="{FF2B5EF4-FFF2-40B4-BE49-F238E27FC236}">
                <a16:creationId xmlns:a16="http://schemas.microsoft.com/office/drawing/2014/main" id="{55ED65CC-41D7-AFE7-B8EC-D71161E8A606}"/>
              </a:ext>
            </a:extLst>
          </p:cNvPr>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44" name="Picture 4" descr="Picture 4">
            <a:extLst>
              <a:ext uri="{FF2B5EF4-FFF2-40B4-BE49-F238E27FC236}">
                <a16:creationId xmlns:a16="http://schemas.microsoft.com/office/drawing/2014/main" id="{6E87C275-2137-3955-9EB0-16CE8D03F3C3}"/>
              </a:ext>
            </a:extLst>
          </p:cNvPr>
          <p:cNvPicPr>
            <a:picLocks noChangeAspect="1"/>
          </p:cNvPicPr>
          <p:nvPr/>
        </p:nvPicPr>
        <p:blipFill>
          <a:blip r:embed="rId2"/>
          <a:stretch>
            <a:fillRect/>
          </a:stretch>
        </p:blipFill>
        <p:spPr>
          <a:xfrm>
            <a:off x="7223926" y="-22861"/>
            <a:ext cx="1916769" cy="411482"/>
          </a:xfrm>
          <a:prstGeom prst="rect">
            <a:avLst/>
          </a:prstGeom>
          <a:ln w="12700">
            <a:miter lim="400000"/>
          </a:ln>
        </p:spPr>
      </p:pic>
      <p:grpSp>
        <p:nvGrpSpPr>
          <p:cNvPr id="6" name="Group 5">
            <a:extLst>
              <a:ext uri="{FF2B5EF4-FFF2-40B4-BE49-F238E27FC236}">
                <a16:creationId xmlns:a16="http://schemas.microsoft.com/office/drawing/2014/main" id="{A465568B-B732-4A63-9944-8CB5BFEBE63A}"/>
              </a:ext>
            </a:extLst>
          </p:cNvPr>
          <p:cNvGrpSpPr/>
          <p:nvPr/>
        </p:nvGrpSpPr>
        <p:grpSpPr>
          <a:xfrm>
            <a:off x="284481" y="1361274"/>
            <a:ext cx="8564879" cy="5103110"/>
            <a:chOff x="278407" y="1112166"/>
            <a:chExt cx="8099404" cy="4634109"/>
          </a:xfrm>
        </p:grpSpPr>
        <p:pic>
          <p:nvPicPr>
            <p:cNvPr id="4" name="Picture 3">
              <a:extLst>
                <a:ext uri="{FF2B5EF4-FFF2-40B4-BE49-F238E27FC236}">
                  <a16:creationId xmlns:a16="http://schemas.microsoft.com/office/drawing/2014/main" id="{17B6AFC1-CEE6-550E-B3E7-4CEE4907AD74}"/>
                </a:ext>
              </a:extLst>
            </p:cNvPr>
            <p:cNvPicPr>
              <a:picLocks noChangeAspect="1"/>
            </p:cNvPicPr>
            <p:nvPr/>
          </p:nvPicPr>
          <p:blipFill>
            <a:blip r:embed="rId3"/>
            <a:srcRect t="13798" b="56246"/>
            <a:stretch>
              <a:fillRect/>
            </a:stretch>
          </p:blipFill>
          <p:spPr>
            <a:xfrm>
              <a:off x="278407" y="1112166"/>
              <a:ext cx="7809530" cy="1554480"/>
            </a:xfrm>
            <a:prstGeom prst="rect">
              <a:avLst/>
            </a:prstGeom>
          </p:spPr>
        </p:pic>
        <p:pic>
          <p:nvPicPr>
            <p:cNvPr id="5" name="Picture 4">
              <a:extLst>
                <a:ext uri="{FF2B5EF4-FFF2-40B4-BE49-F238E27FC236}">
                  <a16:creationId xmlns:a16="http://schemas.microsoft.com/office/drawing/2014/main" id="{A8F09F75-BFF0-4CC7-1501-DCA93E901792}"/>
                </a:ext>
              </a:extLst>
            </p:cNvPr>
            <p:cNvPicPr>
              <a:picLocks noChangeAspect="1"/>
            </p:cNvPicPr>
            <p:nvPr/>
          </p:nvPicPr>
          <p:blipFill>
            <a:blip r:embed="rId3"/>
            <a:srcRect l="23678" t="42579" r="27015"/>
            <a:stretch>
              <a:fillRect/>
            </a:stretch>
          </p:blipFill>
          <p:spPr>
            <a:xfrm>
              <a:off x="4527171" y="2766556"/>
              <a:ext cx="3850640" cy="2979719"/>
            </a:xfrm>
            <a:prstGeom prst="rect">
              <a:avLst/>
            </a:prstGeom>
          </p:spPr>
        </p:pic>
      </p:grpSp>
    </p:spTree>
    <p:extLst>
      <p:ext uri="{BB962C8B-B14F-4D97-AF65-F5344CB8AC3E}">
        <p14:creationId xmlns:p14="http://schemas.microsoft.com/office/powerpoint/2010/main" val="345439263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Hardware and Software Reqirement"/>
          <p:cNvSpPr txBox="1">
            <a:spLocks noGrp="1"/>
          </p:cNvSpPr>
          <p:nvPr>
            <p:ph type="title"/>
          </p:nvPr>
        </p:nvSpPr>
        <p:spPr>
          <a:prstGeom prst="rect">
            <a:avLst/>
          </a:prstGeom>
        </p:spPr>
        <p:txBody>
          <a:bodyPr>
            <a:normAutofit/>
          </a:bodyPr>
          <a:lstStyle>
            <a:lvl1pPr defTabSz="452627">
              <a:defRPr sz="4356"/>
            </a:lvl1pPr>
          </a:lstStyle>
          <a:p>
            <a:r>
              <a:rPr sz="4000" b="1"/>
              <a:t>Hardware and Software Requirement</a:t>
            </a:r>
          </a:p>
        </p:txBody>
      </p:sp>
      <p:sp>
        <p:nvSpPr>
          <p:cNvPr id="147" name="Double-click to edit"/>
          <p:cNvSpPr txBox="1">
            <a:spLocks noGrp="1"/>
          </p:cNvSpPr>
          <p:nvPr>
            <p:ph type="body" idx="1"/>
          </p:nvPr>
        </p:nvSpPr>
        <p:spPr>
          <a:xfrm>
            <a:off x="457200" y="1285240"/>
            <a:ext cx="8686800" cy="5156200"/>
          </a:xfrm>
          <a:prstGeom prst="rect">
            <a:avLst/>
          </a:prstGeom>
        </p:spPr>
        <p:txBody>
          <a:bodyPr>
            <a:normAutofit fontScale="92500" lnSpcReduction="10000"/>
          </a:bodyPr>
          <a:lstStyle/>
          <a:p>
            <a:r>
              <a:rPr lang="en-IN" sz="1400" b="1"/>
              <a:t>GPU</a:t>
            </a:r>
            <a:endParaRPr lang="en-IN" sz="1400"/>
          </a:p>
          <a:p>
            <a:pPr marL="457200" lvl="1" indent="0">
              <a:buNone/>
            </a:pPr>
            <a:r>
              <a:rPr lang="en-IN" sz="1400"/>
              <a:t>NVIDIA GPU with CUDA support (minimum 24 GB VRAM)</a:t>
            </a:r>
          </a:p>
          <a:p>
            <a:pPr marL="457200" lvl="1" indent="0">
              <a:buNone/>
            </a:pPr>
            <a:r>
              <a:rPr lang="en-IN" sz="1400"/>
              <a:t>Supports FP16 / BF16 computation</a:t>
            </a:r>
          </a:p>
          <a:p>
            <a:r>
              <a:rPr lang="en-IN" sz="1400" b="1"/>
              <a:t>Compute Setup</a:t>
            </a:r>
            <a:endParaRPr lang="en-IN" sz="1400"/>
          </a:p>
          <a:p>
            <a:pPr marL="457200" lvl="1" indent="0">
              <a:buNone/>
            </a:pPr>
            <a:r>
              <a:rPr lang="en-IN" sz="1400"/>
              <a:t>Local GPU systems</a:t>
            </a:r>
          </a:p>
          <a:p>
            <a:pPr marL="457200" lvl="1" indent="0">
              <a:buNone/>
            </a:pPr>
            <a:r>
              <a:rPr lang="en-IN" sz="1400"/>
              <a:t>Cloud GPU instances (Google </a:t>
            </a:r>
            <a:r>
              <a:rPr lang="en-IN" sz="1400" err="1"/>
              <a:t>Colab</a:t>
            </a:r>
            <a:r>
              <a:rPr lang="en-IN" sz="1400"/>
              <a:t> / AWS / GCP / Azure)</a:t>
            </a:r>
            <a:br>
              <a:rPr lang="en-IN" sz="1400"/>
            </a:br>
            <a:endParaRPr lang="en-IN" sz="1400" b="1"/>
          </a:p>
          <a:p>
            <a:r>
              <a:rPr lang="en-IN" sz="1400" b="1"/>
              <a:t>Deep Learning Framework</a:t>
            </a:r>
            <a:endParaRPr lang="en-IN" sz="1400"/>
          </a:p>
          <a:p>
            <a:pPr marL="457200" lvl="1" indent="0">
              <a:buNone/>
            </a:pPr>
            <a:r>
              <a:rPr lang="en-IN" sz="1400" err="1"/>
              <a:t>PyTorch</a:t>
            </a:r>
            <a:endParaRPr lang="en-IN" sz="1400"/>
          </a:p>
          <a:p>
            <a:r>
              <a:rPr lang="en-IN" sz="1400" b="1"/>
              <a:t>Libraries</a:t>
            </a:r>
            <a:endParaRPr lang="en-IN" sz="1400"/>
          </a:p>
          <a:p>
            <a:pPr marL="457200" lvl="1" indent="0">
              <a:buNone/>
            </a:pPr>
            <a:r>
              <a:rPr lang="en-IN" sz="1400"/>
              <a:t>Hugging Face Transformers</a:t>
            </a:r>
          </a:p>
          <a:p>
            <a:pPr marL="457200" lvl="1" indent="0">
              <a:buNone/>
            </a:pPr>
            <a:r>
              <a:rPr lang="en-IN" sz="1400"/>
              <a:t>Datasets</a:t>
            </a:r>
          </a:p>
          <a:p>
            <a:pPr marL="457200" lvl="1" indent="0">
              <a:buNone/>
            </a:pPr>
            <a:r>
              <a:rPr lang="en-IN" sz="1400"/>
              <a:t>Accelerate</a:t>
            </a:r>
          </a:p>
          <a:p>
            <a:r>
              <a:rPr lang="en-IN" sz="1400" b="1"/>
              <a:t>GPU Acceleration</a:t>
            </a:r>
            <a:endParaRPr lang="en-IN" sz="1400"/>
          </a:p>
          <a:p>
            <a:pPr marL="457200" lvl="1" indent="0">
              <a:buNone/>
            </a:pPr>
            <a:r>
              <a:rPr lang="en-IN" sz="1400"/>
              <a:t>CUDA Toolkit</a:t>
            </a:r>
          </a:p>
          <a:p>
            <a:pPr marL="457200" lvl="1" indent="0">
              <a:buNone/>
            </a:pPr>
            <a:r>
              <a:rPr lang="en-IN" sz="1400" err="1"/>
              <a:t>cuDNN</a:t>
            </a:r>
            <a:endParaRPr lang="en-IN" sz="1400"/>
          </a:p>
          <a:p>
            <a:r>
              <a:rPr lang="en-IN" sz="1400" b="1"/>
              <a:t>Development Tools</a:t>
            </a:r>
            <a:endParaRPr lang="en-IN" sz="1400"/>
          </a:p>
          <a:p>
            <a:pPr marL="457200" lvl="1" indent="0">
              <a:buNone/>
            </a:pPr>
            <a:r>
              <a:rPr lang="en-IN" sz="1400"/>
              <a:t>VS Code / </a:t>
            </a:r>
            <a:r>
              <a:rPr lang="en-IN" sz="1400" err="1"/>
              <a:t>Jupyter</a:t>
            </a:r>
            <a:r>
              <a:rPr lang="en-IN" sz="1400"/>
              <a:t> Notebook</a:t>
            </a:r>
          </a:p>
          <a:p>
            <a:pPr marL="457200" lvl="1" indent="0">
              <a:buNone/>
            </a:pPr>
            <a:r>
              <a:rPr lang="en-IN" sz="1400"/>
              <a:t>Git	</a:t>
            </a:r>
          </a:p>
        </p:txBody>
      </p:sp>
      <p:grpSp>
        <p:nvGrpSpPr>
          <p:cNvPr id="2" name="Group 1">
            <a:extLst>
              <a:ext uri="{FF2B5EF4-FFF2-40B4-BE49-F238E27FC236}">
                <a16:creationId xmlns:a16="http://schemas.microsoft.com/office/drawing/2014/main" id="{58D3C08F-44A1-FF96-3777-38535CD809FE}"/>
              </a:ext>
            </a:extLst>
          </p:cNvPr>
          <p:cNvGrpSpPr/>
          <p:nvPr/>
        </p:nvGrpSpPr>
        <p:grpSpPr>
          <a:xfrm>
            <a:off x="0" y="-22861"/>
            <a:ext cx="9149000" cy="411482"/>
            <a:chOff x="0" y="-22861"/>
            <a:chExt cx="9149000" cy="411482"/>
          </a:xfrm>
        </p:grpSpPr>
        <p:sp>
          <p:nvSpPr>
            <p:cNvPr id="3" name="Rectangle 3">
              <a:extLst>
                <a:ext uri="{FF2B5EF4-FFF2-40B4-BE49-F238E27FC236}">
                  <a16:creationId xmlns:a16="http://schemas.microsoft.com/office/drawing/2014/main" id="{60408EE4-1364-7DE1-EB1A-324BAE77676A}"/>
                </a:ext>
              </a:extLst>
            </p:cNvPr>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4" name="Picture 4" descr="Picture 4">
              <a:extLst>
                <a:ext uri="{FF2B5EF4-FFF2-40B4-BE49-F238E27FC236}">
                  <a16:creationId xmlns:a16="http://schemas.microsoft.com/office/drawing/2014/main" id="{2456DF62-097E-BF4A-1A52-1F628834FE7A}"/>
                </a:ext>
              </a:extLst>
            </p:cNvPr>
            <p:cNvPicPr>
              <a:picLocks noChangeAspect="1"/>
            </p:cNvPicPr>
            <p:nvPr/>
          </p:nvPicPr>
          <p:blipFill>
            <a:blip r:embed="rId2"/>
            <a:stretch>
              <a:fillRect/>
            </a:stretch>
          </p:blipFill>
          <p:spPr>
            <a:xfrm>
              <a:off x="7232231" y="-22861"/>
              <a:ext cx="1916769" cy="411482"/>
            </a:xfrm>
            <a:prstGeom prst="rect">
              <a:avLst/>
            </a:prstGeom>
            <a:ln w="12700">
              <a:miter lim="400000"/>
            </a:ln>
          </p:spPr>
        </p:pic>
      </p:gr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Title 1"/>
          <p:cNvSpPr txBox="1">
            <a:spLocks noGrp="1"/>
          </p:cNvSpPr>
          <p:nvPr>
            <p:ph type="title"/>
          </p:nvPr>
        </p:nvSpPr>
        <p:spPr>
          <a:prstGeom prst="rect">
            <a:avLst/>
          </a:prstGeom>
        </p:spPr>
        <p:txBody>
          <a:bodyPr>
            <a:normAutofit/>
          </a:bodyPr>
          <a:lstStyle/>
          <a:p>
            <a:r>
              <a:rPr sz="4000" b="1"/>
              <a:t>Technology Stack</a:t>
            </a:r>
          </a:p>
        </p:txBody>
      </p:sp>
      <p:sp>
        <p:nvSpPr>
          <p:cNvPr id="150" name="Content Placeholder 2"/>
          <p:cNvSpPr txBox="1">
            <a:spLocks noGrp="1"/>
          </p:cNvSpPr>
          <p:nvPr>
            <p:ph type="body" idx="1"/>
          </p:nvPr>
        </p:nvSpPr>
        <p:spPr>
          <a:xfrm>
            <a:off x="457200" y="1417639"/>
            <a:ext cx="7112644" cy="4983162"/>
          </a:xfrm>
          <a:prstGeom prst="rect">
            <a:avLst/>
          </a:prstGeom>
        </p:spPr>
        <p:txBody>
          <a:bodyPr>
            <a:noAutofit/>
          </a:bodyPr>
          <a:lstStyle/>
          <a:p>
            <a:pPr>
              <a:buSzPct val="67000"/>
              <a:buFont typeface="Wingdings" panose="05000000000000000000" pitchFamily="2" charset="2"/>
              <a:buChar char="Ø"/>
            </a:pPr>
            <a:endParaRPr lang="en-IN" sz="2000"/>
          </a:p>
          <a:p>
            <a:pPr>
              <a:buSzPct val="67000"/>
              <a:buFont typeface="Wingdings" panose="05000000000000000000" pitchFamily="2" charset="2"/>
              <a:buChar char="Ø"/>
            </a:pPr>
            <a:endParaRPr lang="en-IN" sz="2000"/>
          </a:p>
          <a:p>
            <a:pPr>
              <a:buSzPct val="67000"/>
              <a:buFont typeface="Wingdings" panose="05000000000000000000" pitchFamily="2" charset="2"/>
              <a:buChar char="Ø"/>
            </a:pPr>
            <a:r>
              <a:rPr lang="en-IN" sz="2000"/>
              <a:t>Python</a:t>
            </a:r>
          </a:p>
          <a:p>
            <a:pPr>
              <a:buSzPct val="67000"/>
              <a:buFont typeface="Wingdings" panose="05000000000000000000" pitchFamily="2" charset="2"/>
              <a:buChar char="Ø"/>
            </a:pPr>
            <a:r>
              <a:rPr lang="en-IN" sz="2000" err="1"/>
              <a:t>PyTorch</a:t>
            </a:r>
            <a:r>
              <a:rPr lang="en-IN" sz="2000"/>
              <a:t> + CUDA</a:t>
            </a:r>
          </a:p>
          <a:p>
            <a:pPr>
              <a:buSzPct val="67000"/>
              <a:buFont typeface="Wingdings" panose="05000000000000000000" pitchFamily="2" charset="2"/>
              <a:buChar char="Ø"/>
            </a:pPr>
            <a:r>
              <a:rPr lang="en-IN" sz="2000"/>
              <a:t>Hugging Face Transformers</a:t>
            </a:r>
          </a:p>
          <a:p>
            <a:pPr>
              <a:buSzPct val="67000"/>
              <a:buFont typeface="Wingdings" panose="05000000000000000000" pitchFamily="2" charset="2"/>
              <a:buChar char="Ø"/>
            </a:pPr>
            <a:r>
              <a:rPr lang="en-IN" sz="2000"/>
              <a:t>BDH‑based Student Model</a:t>
            </a:r>
          </a:p>
          <a:p>
            <a:pPr>
              <a:buSzPct val="67000"/>
              <a:buFont typeface="Wingdings" panose="05000000000000000000" pitchFamily="2" charset="2"/>
              <a:buChar char="Ø"/>
            </a:pPr>
            <a:r>
              <a:rPr lang="en-IN" sz="2000"/>
              <a:t>Multi‑Teacher Knowledge Distillation</a:t>
            </a:r>
          </a:p>
          <a:p>
            <a:pPr>
              <a:buSzPct val="67000"/>
              <a:buFont typeface="Wingdings" panose="05000000000000000000" pitchFamily="2" charset="2"/>
              <a:buChar char="Ø"/>
            </a:pPr>
            <a:r>
              <a:rPr lang="en-IN" sz="2000"/>
              <a:t>Local &amp; Cloud GPU Training</a:t>
            </a:r>
          </a:p>
        </p:txBody>
      </p:sp>
      <p:grpSp>
        <p:nvGrpSpPr>
          <p:cNvPr id="2" name="Group 1">
            <a:extLst>
              <a:ext uri="{FF2B5EF4-FFF2-40B4-BE49-F238E27FC236}">
                <a16:creationId xmlns:a16="http://schemas.microsoft.com/office/drawing/2014/main" id="{6F5B573C-8B67-FF87-3F02-79353F42AEAB}"/>
              </a:ext>
            </a:extLst>
          </p:cNvPr>
          <p:cNvGrpSpPr/>
          <p:nvPr/>
        </p:nvGrpSpPr>
        <p:grpSpPr>
          <a:xfrm>
            <a:off x="0" y="-22861"/>
            <a:ext cx="9149000" cy="411482"/>
            <a:chOff x="0" y="-22861"/>
            <a:chExt cx="9149000" cy="411482"/>
          </a:xfrm>
        </p:grpSpPr>
        <p:sp>
          <p:nvSpPr>
            <p:cNvPr id="151" name="Rectangle 3"/>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52" name="Picture 4" descr="Picture 4"/>
            <p:cNvPicPr>
              <a:picLocks noChangeAspect="1"/>
            </p:cNvPicPr>
            <p:nvPr/>
          </p:nvPicPr>
          <p:blipFill>
            <a:blip r:embed="rId2"/>
            <a:stretch>
              <a:fillRect/>
            </a:stretch>
          </p:blipFill>
          <p:spPr>
            <a:xfrm>
              <a:off x="7232231" y="-22861"/>
              <a:ext cx="1916769" cy="411482"/>
            </a:xfrm>
            <a:prstGeom prst="rect">
              <a:avLst/>
            </a:prstGeom>
            <a:ln w="12700">
              <a:miter lim="400000"/>
            </a:ln>
          </p:spPr>
        </p:pic>
      </p:gr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Title 1"/>
          <p:cNvSpPr txBox="1">
            <a:spLocks noGrp="1"/>
          </p:cNvSpPr>
          <p:nvPr>
            <p:ph type="title"/>
          </p:nvPr>
        </p:nvSpPr>
        <p:spPr>
          <a:prstGeom prst="rect">
            <a:avLst/>
          </a:prstGeom>
        </p:spPr>
        <p:txBody>
          <a:bodyPr>
            <a:normAutofit/>
          </a:bodyPr>
          <a:lstStyle/>
          <a:p>
            <a:r>
              <a:rPr sz="4000" b="1"/>
              <a:t>Dataset Description</a:t>
            </a:r>
          </a:p>
        </p:txBody>
      </p:sp>
      <p:sp>
        <p:nvSpPr>
          <p:cNvPr id="156" name="Rectangle 3"/>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57" name="Picture 4" descr="Picture 4"/>
          <p:cNvPicPr>
            <a:picLocks noChangeAspect="1"/>
          </p:cNvPicPr>
          <p:nvPr/>
        </p:nvPicPr>
        <p:blipFill>
          <a:blip r:embed="rId2"/>
          <a:stretch>
            <a:fillRect/>
          </a:stretch>
        </p:blipFill>
        <p:spPr>
          <a:xfrm>
            <a:off x="7223926" y="-22861"/>
            <a:ext cx="1916769" cy="411482"/>
          </a:xfrm>
          <a:prstGeom prst="rect">
            <a:avLst/>
          </a:prstGeom>
          <a:ln w="12700">
            <a:miter lim="400000"/>
          </a:ln>
        </p:spPr>
      </p:pic>
      <p:pic>
        <p:nvPicPr>
          <p:cNvPr id="5" name="Picture 4">
            <a:extLst>
              <a:ext uri="{FF2B5EF4-FFF2-40B4-BE49-F238E27FC236}">
                <a16:creationId xmlns:a16="http://schemas.microsoft.com/office/drawing/2014/main" id="{20231FEF-9B65-7A5C-89B0-E1EEB5FC726C}"/>
              </a:ext>
            </a:extLst>
          </p:cNvPr>
          <p:cNvPicPr>
            <a:picLocks noChangeAspect="1"/>
          </p:cNvPicPr>
          <p:nvPr/>
        </p:nvPicPr>
        <p:blipFill>
          <a:blip r:embed="rId3" cstate="print">
            <a:extLst>
              <a:ext uri="{28A0092B-C50C-407E-A947-70E740481C1C}">
                <a14:useLocalDpi xmlns:a14="http://schemas.microsoft.com/office/drawing/2010/main" val="0"/>
              </a:ext>
            </a:extLst>
          </a:blip>
          <a:srcRect t="17890" b="11224"/>
          <a:stretch>
            <a:fillRect/>
          </a:stretch>
        </p:blipFill>
        <p:spPr>
          <a:xfrm>
            <a:off x="674225" y="1417639"/>
            <a:ext cx="7795549" cy="4920173"/>
          </a:xfrm>
          <a:prstGeom prst="rect">
            <a:avLst/>
          </a:prstGeom>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Title 1"/>
          <p:cNvSpPr txBox="1">
            <a:spLocks noGrp="1"/>
          </p:cNvSpPr>
          <p:nvPr>
            <p:ph type="title"/>
          </p:nvPr>
        </p:nvSpPr>
        <p:spPr>
          <a:prstGeom prst="rect">
            <a:avLst/>
          </a:prstGeom>
        </p:spPr>
        <p:txBody>
          <a:bodyPr>
            <a:normAutofit/>
          </a:bodyPr>
          <a:lstStyle/>
          <a:p>
            <a:r>
              <a:rPr sz="4000" b="1"/>
              <a:t>Work Plan &amp; Timeline</a:t>
            </a:r>
          </a:p>
        </p:txBody>
      </p:sp>
      <p:sp>
        <p:nvSpPr>
          <p:cNvPr id="161" name="Rectangle 3"/>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62" name="Picture 4" descr="Picture 4"/>
          <p:cNvPicPr>
            <a:picLocks noChangeAspect="1"/>
          </p:cNvPicPr>
          <p:nvPr/>
        </p:nvPicPr>
        <p:blipFill>
          <a:blip r:embed="rId2"/>
          <a:stretch>
            <a:fillRect/>
          </a:stretch>
        </p:blipFill>
        <p:spPr>
          <a:xfrm>
            <a:off x="7240536" y="-22861"/>
            <a:ext cx="1916769" cy="411482"/>
          </a:xfrm>
          <a:prstGeom prst="rect">
            <a:avLst/>
          </a:prstGeom>
          <a:ln w="12700">
            <a:miter lim="400000"/>
          </a:ln>
        </p:spPr>
      </p:pic>
      <p:graphicFrame>
        <p:nvGraphicFramePr>
          <p:cNvPr id="6" name="Table 5">
            <a:extLst>
              <a:ext uri="{FF2B5EF4-FFF2-40B4-BE49-F238E27FC236}">
                <a16:creationId xmlns:a16="http://schemas.microsoft.com/office/drawing/2014/main" id="{B77ED5C0-1086-A2AD-9F1F-33D15A579634}"/>
              </a:ext>
            </a:extLst>
          </p:cNvPr>
          <p:cNvGraphicFramePr>
            <a:graphicFrameLocks noGrp="1"/>
          </p:cNvGraphicFramePr>
          <p:nvPr>
            <p:extLst>
              <p:ext uri="{D42A27DB-BD31-4B8C-83A1-F6EECF244321}">
                <p14:modId xmlns:p14="http://schemas.microsoft.com/office/powerpoint/2010/main" val="1042809374"/>
              </p:ext>
            </p:extLst>
          </p:nvPr>
        </p:nvGraphicFramePr>
        <p:xfrm>
          <a:off x="610114" y="1417639"/>
          <a:ext cx="8076686" cy="5010580"/>
        </p:xfrm>
        <a:graphic>
          <a:graphicData uri="http://schemas.openxmlformats.org/drawingml/2006/table">
            <a:tbl>
              <a:tblPr>
                <a:effectLst>
                  <a:outerShdw blurRad="50800" dist="38100" dir="2700000" algn="tl" rotWithShape="0">
                    <a:prstClr val="black">
                      <a:alpha val="22000"/>
                    </a:prstClr>
                  </a:outerShdw>
                </a:effectLst>
                <a:tableStyleId>{5940675A-B579-460E-94D1-54222C63F5DA}</a:tableStyleId>
              </a:tblPr>
              <a:tblGrid>
                <a:gridCol w="1082740">
                  <a:extLst>
                    <a:ext uri="{9D8B030D-6E8A-4147-A177-3AD203B41FA5}">
                      <a16:colId xmlns:a16="http://schemas.microsoft.com/office/drawing/2014/main" val="2405227441"/>
                    </a:ext>
                  </a:extLst>
                </a:gridCol>
                <a:gridCol w="2881755">
                  <a:extLst>
                    <a:ext uri="{9D8B030D-6E8A-4147-A177-3AD203B41FA5}">
                      <a16:colId xmlns:a16="http://schemas.microsoft.com/office/drawing/2014/main" val="908957074"/>
                    </a:ext>
                  </a:extLst>
                </a:gridCol>
                <a:gridCol w="1104151">
                  <a:extLst>
                    <a:ext uri="{9D8B030D-6E8A-4147-A177-3AD203B41FA5}">
                      <a16:colId xmlns:a16="http://schemas.microsoft.com/office/drawing/2014/main" val="294680293"/>
                    </a:ext>
                  </a:extLst>
                </a:gridCol>
                <a:gridCol w="1041504">
                  <a:extLst>
                    <a:ext uri="{9D8B030D-6E8A-4147-A177-3AD203B41FA5}">
                      <a16:colId xmlns:a16="http://schemas.microsoft.com/office/drawing/2014/main" val="934117359"/>
                    </a:ext>
                  </a:extLst>
                </a:gridCol>
                <a:gridCol w="1966536">
                  <a:extLst>
                    <a:ext uri="{9D8B030D-6E8A-4147-A177-3AD203B41FA5}">
                      <a16:colId xmlns:a16="http://schemas.microsoft.com/office/drawing/2014/main" val="664891370"/>
                    </a:ext>
                  </a:extLst>
                </a:gridCol>
              </a:tblGrid>
              <a:tr h="283397">
                <a:tc>
                  <a:txBody>
                    <a:bodyPr/>
                    <a:lstStyle/>
                    <a:p>
                      <a:pPr>
                        <a:lnSpc>
                          <a:spcPct val="115000"/>
                        </a:lnSpc>
                        <a:spcAft>
                          <a:spcPts val="1000"/>
                        </a:spcAft>
                        <a:buNone/>
                      </a:pPr>
                      <a:r>
                        <a:rPr lang="en-IN" sz="1200">
                          <a:effectLst/>
                        </a:rPr>
                        <a:t>Phase</a:t>
                      </a:r>
                      <a:endParaRPr lang="en-IN" sz="1100">
                        <a:effectLst/>
                        <a:latin typeface="Calibri" panose="020F0502020204030204" pitchFamily="34" charset="0"/>
                        <a:ea typeface="Calibri" panose="020F0502020204030204" pitchFamily="34" charset="0"/>
                      </a:endParaRPr>
                    </a:p>
                  </a:txBody>
                  <a:tcPr marL="20258" marR="20258" marT="20258" marB="20258">
                    <a:solidFill>
                      <a:schemeClr val="tx2">
                        <a:lumMod val="20000"/>
                        <a:lumOff val="80000"/>
                      </a:schemeClr>
                    </a:solidFill>
                  </a:tcPr>
                </a:tc>
                <a:tc>
                  <a:txBody>
                    <a:bodyPr/>
                    <a:lstStyle/>
                    <a:p>
                      <a:pPr>
                        <a:lnSpc>
                          <a:spcPct val="115000"/>
                        </a:lnSpc>
                        <a:spcAft>
                          <a:spcPts val="1000"/>
                        </a:spcAft>
                        <a:buNone/>
                      </a:pPr>
                      <a:r>
                        <a:rPr lang="en-IN" sz="1200">
                          <a:effectLst/>
                        </a:rPr>
                        <a:t>Task Description</a:t>
                      </a:r>
                      <a:endParaRPr lang="en-IN" sz="1100">
                        <a:effectLst/>
                        <a:latin typeface="Calibri" panose="020F0502020204030204" pitchFamily="34" charset="0"/>
                        <a:ea typeface="Calibri" panose="020F0502020204030204" pitchFamily="34" charset="0"/>
                      </a:endParaRPr>
                    </a:p>
                  </a:txBody>
                  <a:tcPr marL="20258" marR="20258" marT="20258" marB="20258">
                    <a:solidFill>
                      <a:schemeClr val="tx2">
                        <a:lumMod val="20000"/>
                        <a:lumOff val="80000"/>
                      </a:schemeClr>
                    </a:solidFill>
                  </a:tcPr>
                </a:tc>
                <a:tc>
                  <a:txBody>
                    <a:bodyPr/>
                    <a:lstStyle/>
                    <a:p>
                      <a:pPr>
                        <a:lnSpc>
                          <a:spcPct val="115000"/>
                        </a:lnSpc>
                        <a:spcAft>
                          <a:spcPts val="1000"/>
                        </a:spcAft>
                        <a:buNone/>
                      </a:pPr>
                      <a:r>
                        <a:rPr lang="en-IN" sz="1200">
                          <a:effectLst/>
                        </a:rPr>
                        <a:t>Start Date</a:t>
                      </a:r>
                      <a:endParaRPr lang="en-IN" sz="1100">
                        <a:effectLst/>
                        <a:latin typeface="Calibri" panose="020F0502020204030204" pitchFamily="34" charset="0"/>
                        <a:ea typeface="Calibri" panose="020F0502020204030204" pitchFamily="34" charset="0"/>
                      </a:endParaRPr>
                    </a:p>
                  </a:txBody>
                  <a:tcPr marL="20258" marR="20258" marT="20258" marB="20258">
                    <a:solidFill>
                      <a:schemeClr val="tx2">
                        <a:lumMod val="20000"/>
                        <a:lumOff val="80000"/>
                      </a:schemeClr>
                    </a:solidFill>
                  </a:tcPr>
                </a:tc>
                <a:tc>
                  <a:txBody>
                    <a:bodyPr/>
                    <a:lstStyle/>
                    <a:p>
                      <a:pPr>
                        <a:lnSpc>
                          <a:spcPct val="115000"/>
                        </a:lnSpc>
                        <a:spcAft>
                          <a:spcPts val="1000"/>
                        </a:spcAft>
                        <a:buNone/>
                      </a:pPr>
                      <a:r>
                        <a:rPr lang="en-IN" sz="1200">
                          <a:effectLst/>
                        </a:rPr>
                        <a:t>End Date</a:t>
                      </a:r>
                      <a:endParaRPr lang="en-IN" sz="1100">
                        <a:effectLst/>
                        <a:latin typeface="Calibri" panose="020F0502020204030204" pitchFamily="34" charset="0"/>
                        <a:ea typeface="Calibri" panose="020F0502020204030204" pitchFamily="34" charset="0"/>
                      </a:endParaRPr>
                    </a:p>
                  </a:txBody>
                  <a:tcPr marL="20258" marR="20258" marT="20258" marB="20258">
                    <a:solidFill>
                      <a:schemeClr val="tx2">
                        <a:lumMod val="20000"/>
                        <a:lumOff val="80000"/>
                      </a:schemeClr>
                    </a:solidFill>
                  </a:tcPr>
                </a:tc>
                <a:tc>
                  <a:txBody>
                    <a:bodyPr/>
                    <a:lstStyle/>
                    <a:p>
                      <a:pPr>
                        <a:lnSpc>
                          <a:spcPct val="115000"/>
                        </a:lnSpc>
                        <a:spcAft>
                          <a:spcPts val="1000"/>
                        </a:spcAft>
                        <a:buNone/>
                      </a:pPr>
                      <a:r>
                        <a:rPr lang="en-IN" sz="1200">
                          <a:effectLst/>
                        </a:rPr>
                        <a:t>Deliverable</a:t>
                      </a:r>
                      <a:endParaRPr lang="en-IN" sz="1100">
                        <a:effectLst/>
                        <a:latin typeface="Calibri" panose="020F0502020204030204" pitchFamily="34" charset="0"/>
                        <a:ea typeface="Calibri" panose="020F0502020204030204" pitchFamily="34" charset="0"/>
                      </a:endParaRPr>
                    </a:p>
                  </a:txBody>
                  <a:tcPr marL="20258" marR="20258" marT="20258" marB="20258">
                    <a:solidFill>
                      <a:schemeClr val="tx2">
                        <a:lumMod val="20000"/>
                        <a:lumOff val="80000"/>
                      </a:schemeClr>
                    </a:solidFill>
                  </a:tcPr>
                </a:tc>
                <a:extLst>
                  <a:ext uri="{0D108BD9-81ED-4DB2-BD59-A6C34878D82A}">
                    <a16:rowId xmlns:a16="http://schemas.microsoft.com/office/drawing/2014/main" val="2816769567"/>
                  </a:ext>
                </a:extLst>
              </a:tr>
              <a:tr h="515222">
                <a:tc>
                  <a:txBody>
                    <a:bodyPr/>
                    <a:lstStyle/>
                    <a:p>
                      <a:pPr>
                        <a:lnSpc>
                          <a:spcPct val="115000"/>
                        </a:lnSpc>
                        <a:spcAft>
                          <a:spcPts val="1000"/>
                        </a:spcAft>
                        <a:buNone/>
                      </a:pPr>
                      <a:r>
                        <a:rPr lang="en-IN" sz="1100">
                          <a:effectLst/>
                        </a:rPr>
                        <a:t>Phase 1</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GB" sz="1100">
                          <a:effectLst/>
                        </a:rPr>
                        <a:t>Topic selection, problem statement definition, and BDH-GPU architectural scope finalization</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08-12-2025</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06-01-2026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Approved problem statement and project proposal</a:t>
                      </a:r>
                      <a:endParaRPr lang="en-IN" sz="1100">
                        <a:effectLst/>
                        <a:latin typeface="Calibri" panose="020F0502020204030204" pitchFamily="34" charset="0"/>
                        <a:ea typeface="Calibri" panose="020F0502020204030204" pitchFamily="34" charset="0"/>
                      </a:endParaRPr>
                    </a:p>
                  </a:txBody>
                  <a:tcPr marL="20258" marR="20258" marT="20258" marB="20258"/>
                </a:tc>
                <a:extLst>
                  <a:ext uri="{0D108BD9-81ED-4DB2-BD59-A6C34878D82A}">
                    <a16:rowId xmlns:a16="http://schemas.microsoft.com/office/drawing/2014/main" val="1999796117"/>
                  </a:ext>
                </a:extLst>
              </a:tr>
              <a:tr h="526942">
                <a:tc>
                  <a:txBody>
                    <a:bodyPr/>
                    <a:lstStyle/>
                    <a:p>
                      <a:pPr>
                        <a:lnSpc>
                          <a:spcPct val="115000"/>
                        </a:lnSpc>
                        <a:spcAft>
                          <a:spcPts val="1000"/>
                        </a:spcAft>
                        <a:buNone/>
                      </a:pPr>
                      <a:r>
                        <a:rPr lang="en-IN" sz="1100">
                          <a:effectLst/>
                        </a:rPr>
                        <a:t>Phase 2</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GB" sz="1100">
                          <a:effectLst/>
                        </a:rPr>
                        <a:t>Literature review of "Dragon Hatchling“ and existing code-distillation techniques.</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07-01-2026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07-01-2026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Literature review report and presentation slides</a:t>
                      </a:r>
                      <a:endParaRPr lang="en-IN" sz="1100">
                        <a:effectLst/>
                        <a:latin typeface="Calibri" panose="020F0502020204030204" pitchFamily="34" charset="0"/>
                        <a:ea typeface="Calibri" panose="020F0502020204030204" pitchFamily="34" charset="0"/>
                      </a:endParaRPr>
                    </a:p>
                  </a:txBody>
                  <a:tcPr marL="20258" marR="20258" marT="20258" marB="20258"/>
                </a:tc>
                <a:extLst>
                  <a:ext uri="{0D108BD9-81ED-4DB2-BD59-A6C34878D82A}">
                    <a16:rowId xmlns:a16="http://schemas.microsoft.com/office/drawing/2014/main" val="3138856666"/>
                  </a:ext>
                </a:extLst>
              </a:tr>
              <a:tr h="507300">
                <a:tc>
                  <a:txBody>
                    <a:bodyPr/>
                    <a:lstStyle/>
                    <a:p>
                      <a:pPr>
                        <a:lnSpc>
                          <a:spcPct val="115000"/>
                        </a:lnSpc>
                        <a:spcAft>
                          <a:spcPts val="1000"/>
                        </a:spcAft>
                        <a:buNone/>
                      </a:pPr>
                      <a:r>
                        <a:rPr lang="en-IN" sz="1100">
                          <a:effectLst/>
                        </a:rPr>
                        <a:t>Phase 3</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GB" sz="1100">
                          <a:effectLst/>
                        </a:rPr>
                        <a:t>Software Requirements Specification (SRS) for a   task-specific BDH model.</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08-01-2026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12-01-2026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Submitted SRS document</a:t>
                      </a:r>
                      <a:endParaRPr lang="en-IN" sz="1100">
                        <a:effectLst/>
                        <a:latin typeface="Calibri" panose="020F0502020204030204" pitchFamily="34" charset="0"/>
                        <a:ea typeface="Calibri" panose="020F0502020204030204" pitchFamily="34" charset="0"/>
                      </a:endParaRPr>
                    </a:p>
                  </a:txBody>
                  <a:tcPr marL="20258" marR="20258" marT="20258" marB="20258"/>
                </a:tc>
                <a:extLst>
                  <a:ext uri="{0D108BD9-81ED-4DB2-BD59-A6C34878D82A}">
                    <a16:rowId xmlns:a16="http://schemas.microsoft.com/office/drawing/2014/main" val="1661113624"/>
                  </a:ext>
                </a:extLst>
              </a:tr>
              <a:tr h="497949">
                <a:tc>
                  <a:txBody>
                    <a:bodyPr/>
                    <a:lstStyle/>
                    <a:p>
                      <a:pPr>
                        <a:lnSpc>
                          <a:spcPct val="115000"/>
                        </a:lnSpc>
                        <a:spcAft>
                          <a:spcPts val="1000"/>
                        </a:spcAft>
                        <a:buNone/>
                      </a:pPr>
                      <a:r>
                        <a:rPr lang="en-IN" sz="1100">
                          <a:effectLst/>
                        </a:rPr>
                        <a:t>Phase 4</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GB" sz="1100">
                          <a:effectLst/>
                        </a:rPr>
                        <a:t>Environment setup using </a:t>
                      </a:r>
                      <a:r>
                        <a:rPr lang="en-GB" sz="1100" err="1">
                          <a:effectLst/>
                        </a:rPr>
                        <a:t>PyTorch</a:t>
                      </a:r>
                      <a:r>
                        <a:rPr lang="en-GB" sz="1100">
                          <a:effectLst/>
                        </a:rPr>
                        <a:t> and implementation of the BDH-GPU Kernel</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14-01-2026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14-01-2026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System</a:t>
                      </a:r>
                      <a:r>
                        <a:rPr lang="en-GB" sz="1100">
                          <a:effectLst/>
                        </a:rPr>
                        <a:t> architecture and design document</a:t>
                      </a:r>
                      <a:endParaRPr lang="en-IN" sz="1100">
                        <a:effectLst/>
                        <a:latin typeface="Calibri" panose="020F0502020204030204" pitchFamily="34" charset="0"/>
                        <a:ea typeface="Calibri" panose="020F0502020204030204" pitchFamily="34" charset="0"/>
                      </a:endParaRPr>
                    </a:p>
                  </a:txBody>
                  <a:tcPr marL="20258" marR="20258" marT="20258" marB="20258"/>
                </a:tc>
                <a:extLst>
                  <a:ext uri="{0D108BD9-81ED-4DB2-BD59-A6C34878D82A}">
                    <a16:rowId xmlns:a16="http://schemas.microsoft.com/office/drawing/2014/main" val="1088559033"/>
                  </a:ext>
                </a:extLst>
              </a:tr>
              <a:tr h="507300">
                <a:tc>
                  <a:txBody>
                    <a:bodyPr/>
                    <a:lstStyle/>
                    <a:p>
                      <a:pPr>
                        <a:lnSpc>
                          <a:spcPct val="115000"/>
                        </a:lnSpc>
                        <a:spcAft>
                          <a:spcPts val="1000"/>
                        </a:spcAft>
                        <a:buNone/>
                      </a:pPr>
                      <a:r>
                        <a:rPr lang="en-IN" sz="1100">
                          <a:effectLst/>
                        </a:rPr>
                        <a:t>Phase 5</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GB" sz="1100">
                          <a:effectLst/>
                        </a:rPr>
                        <a:t>Data preprocessing for code debugging datasets     and initial Phase-1 demo.</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15-01-2026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21-01-2026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Front-end module and Phase-1 demo</a:t>
                      </a:r>
                      <a:endParaRPr lang="en-IN" sz="1100">
                        <a:effectLst/>
                        <a:latin typeface="Calibri" panose="020F0502020204030204" pitchFamily="34" charset="0"/>
                        <a:ea typeface="Calibri" panose="020F0502020204030204" pitchFamily="34" charset="0"/>
                      </a:endParaRPr>
                    </a:p>
                  </a:txBody>
                  <a:tcPr marL="20258" marR="20258" marT="20258" marB="20258"/>
                </a:tc>
                <a:extLst>
                  <a:ext uri="{0D108BD9-81ED-4DB2-BD59-A6C34878D82A}">
                    <a16:rowId xmlns:a16="http://schemas.microsoft.com/office/drawing/2014/main" val="2381698189"/>
                  </a:ext>
                </a:extLst>
              </a:tr>
              <a:tr h="524627">
                <a:tc>
                  <a:txBody>
                    <a:bodyPr/>
                    <a:lstStyle/>
                    <a:p>
                      <a:pPr>
                        <a:lnSpc>
                          <a:spcPct val="115000"/>
                        </a:lnSpc>
                        <a:spcAft>
                          <a:spcPts val="1000"/>
                        </a:spcAft>
                        <a:buNone/>
                      </a:pPr>
                      <a:r>
                        <a:rPr lang="en-IN" sz="1100">
                          <a:effectLst/>
                        </a:rPr>
                        <a:t>Phase 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GB" sz="1100">
                          <a:effectLst/>
                        </a:rPr>
                        <a:t>Training via knowledge distillation and integration   of the linear attention block</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22-01-2026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11-02-2026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Fully integrated system and final demo</a:t>
                      </a:r>
                      <a:endParaRPr lang="en-IN" sz="1100">
                        <a:effectLst/>
                        <a:latin typeface="Calibri" panose="020F0502020204030204" pitchFamily="34" charset="0"/>
                        <a:ea typeface="Calibri" panose="020F0502020204030204" pitchFamily="34" charset="0"/>
                      </a:endParaRPr>
                    </a:p>
                  </a:txBody>
                  <a:tcPr marL="20258" marR="20258" marT="20258" marB="20258"/>
                </a:tc>
                <a:extLst>
                  <a:ext uri="{0D108BD9-81ED-4DB2-BD59-A6C34878D82A}">
                    <a16:rowId xmlns:a16="http://schemas.microsoft.com/office/drawing/2014/main" val="2804979970"/>
                  </a:ext>
                </a:extLst>
              </a:tr>
              <a:tr h="519211">
                <a:tc>
                  <a:txBody>
                    <a:bodyPr/>
                    <a:lstStyle/>
                    <a:p>
                      <a:pPr>
                        <a:lnSpc>
                          <a:spcPct val="115000"/>
                        </a:lnSpc>
                        <a:spcAft>
                          <a:spcPts val="1000"/>
                        </a:spcAft>
                        <a:buNone/>
                      </a:pPr>
                      <a:r>
                        <a:rPr lang="en-IN" sz="1100">
                          <a:effectLst/>
                        </a:rPr>
                        <a:t>Phase 7</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GB" sz="1100">
                          <a:effectLst/>
                        </a:rPr>
                        <a:t>System testing, validation of sparsity levels, and </a:t>
                      </a:r>
                      <a:r>
                        <a:rPr lang="en-GB" sz="1100" err="1">
                          <a:effectLst/>
                        </a:rPr>
                        <a:t>monosemanticity</a:t>
                      </a:r>
                      <a:r>
                        <a:rPr lang="en-GB" sz="1100">
                          <a:effectLst/>
                        </a:rPr>
                        <a:t> Analysis</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12-02-2026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18-02-2026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Approved final review and demo</a:t>
                      </a:r>
                      <a:endParaRPr lang="en-IN" sz="1100">
                        <a:effectLst/>
                        <a:latin typeface="Calibri" panose="020F0502020204030204" pitchFamily="34" charset="0"/>
                        <a:ea typeface="Calibri" panose="020F0502020204030204" pitchFamily="34" charset="0"/>
                      </a:endParaRPr>
                    </a:p>
                  </a:txBody>
                  <a:tcPr marL="20258" marR="20258" marT="20258" marB="20258"/>
                </a:tc>
                <a:extLst>
                  <a:ext uri="{0D108BD9-81ED-4DB2-BD59-A6C34878D82A}">
                    <a16:rowId xmlns:a16="http://schemas.microsoft.com/office/drawing/2014/main" val="2581957551"/>
                  </a:ext>
                </a:extLst>
              </a:tr>
              <a:tr h="528320">
                <a:tc>
                  <a:txBody>
                    <a:bodyPr/>
                    <a:lstStyle/>
                    <a:p>
                      <a:pPr>
                        <a:lnSpc>
                          <a:spcPct val="115000"/>
                        </a:lnSpc>
                        <a:spcAft>
                          <a:spcPts val="1000"/>
                        </a:spcAft>
                        <a:buNone/>
                      </a:pPr>
                      <a:r>
                        <a:rPr lang="en-IN" sz="1100">
                          <a:effectLst/>
                        </a:rPr>
                        <a:t>Phase 8</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GB" sz="1100">
                          <a:effectLst/>
                        </a:rPr>
                        <a:t>Draft report preparation focusing on computational cost and efficiency Metrics</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19-02-2026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04-03-2026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Bef>
                          <a:spcPts val="1200"/>
                        </a:spcBef>
                        <a:spcAft>
                          <a:spcPts val="1200"/>
                        </a:spcAft>
                        <a:buNone/>
                      </a:pPr>
                      <a:r>
                        <a:rPr lang="en-IN" sz="1100">
                          <a:effectLst/>
                        </a:rPr>
                        <a:t>Draft project report and paper</a:t>
                      </a:r>
                      <a:endParaRPr lang="en-IN" sz="1100">
                        <a:effectLst/>
                        <a:latin typeface="Calibri" panose="020F0502020204030204" pitchFamily="34" charset="0"/>
                        <a:ea typeface="Calibri" panose="020F0502020204030204" pitchFamily="34" charset="0"/>
                      </a:endParaRPr>
                    </a:p>
                  </a:txBody>
                  <a:tcPr marL="20258" marR="20258" marT="20258" marB="20258"/>
                </a:tc>
                <a:extLst>
                  <a:ext uri="{0D108BD9-81ED-4DB2-BD59-A6C34878D82A}">
                    <a16:rowId xmlns:a16="http://schemas.microsoft.com/office/drawing/2014/main" val="1974737610"/>
                  </a:ext>
                </a:extLst>
              </a:tr>
              <a:tr h="600312">
                <a:tc>
                  <a:txBody>
                    <a:bodyPr/>
                    <a:lstStyle/>
                    <a:p>
                      <a:pPr>
                        <a:lnSpc>
                          <a:spcPct val="115000"/>
                        </a:lnSpc>
                        <a:spcAft>
                          <a:spcPts val="1000"/>
                        </a:spcAft>
                        <a:buNone/>
                      </a:pPr>
                      <a:r>
                        <a:rPr lang="en-IN" sz="1100">
                          <a:effectLst/>
                        </a:rPr>
                        <a:t>Phase 9</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GB" sz="1100">
                          <a:effectLst/>
                        </a:rPr>
                        <a:t>External evaluation and final report submission.</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05-03-2026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Aft>
                          <a:spcPts val="1000"/>
                        </a:spcAft>
                        <a:buNone/>
                      </a:pPr>
                      <a:r>
                        <a:rPr lang="en-IN" sz="1100">
                          <a:effectLst/>
                        </a:rPr>
                        <a:t>18-03-2026</a:t>
                      </a:r>
                      <a:endParaRPr lang="en-IN" sz="1100">
                        <a:effectLst/>
                        <a:latin typeface="Calibri" panose="020F0502020204030204" pitchFamily="34" charset="0"/>
                        <a:ea typeface="Calibri" panose="020F0502020204030204" pitchFamily="34" charset="0"/>
                      </a:endParaRPr>
                    </a:p>
                  </a:txBody>
                  <a:tcPr marL="20258" marR="20258" marT="20258" marB="20258"/>
                </a:tc>
                <a:tc>
                  <a:txBody>
                    <a:bodyPr/>
                    <a:lstStyle/>
                    <a:p>
                      <a:pPr>
                        <a:lnSpc>
                          <a:spcPct val="115000"/>
                        </a:lnSpc>
                        <a:spcBef>
                          <a:spcPts val="1200"/>
                        </a:spcBef>
                        <a:spcAft>
                          <a:spcPts val="1200"/>
                        </a:spcAft>
                        <a:buNone/>
                      </a:pPr>
                      <a:r>
                        <a:rPr lang="en-IN" sz="1100">
                          <a:effectLst/>
                        </a:rPr>
                        <a:t>Final report submission and evaluation clearance</a:t>
                      </a:r>
                      <a:endParaRPr lang="en-IN" sz="1100">
                        <a:effectLst/>
                        <a:latin typeface="Calibri" panose="020F0502020204030204" pitchFamily="34" charset="0"/>
                        <a:ea typeface="Calibri" panose="020F0502020204030204" pitchFamily="34" charset="0"/>
                      </a:endParaRPr>
                    </a:p>
                  </a:txBody>
                  <a:tcPr marL="20258" marR="20258" marT="20258" marB="20258"/>
                </a:tc>
                <a:extLst>
                  <a:ext uri="{0D108BD9-81ED-4DB2-BD59-A6C34878D82A}">
                    <a16:rowId xmlns:a16="http://schemas.microsoft.com/office/drawing/2014/main" val="3274620811"/>
                  </a:ext>
                </a:extLst>
              </a:tr>
            </a:tbl>
          </a:graphicData>
        </a:graphic>
      </p:graphicFrame>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itle 1"/>
          <p:cNvSpPr txBox="1">
            <a:spLocks noGrp="1"/>
          </p:cNvSpPr>
          <p:nvPr>
            <p:ph type="title"/>
          </p:nvPr>
        </p:nvSpPr>
        <p:spPr>
          <a:prstGeom prst="rect">
            <a:avLst/>
          </a:prstGeom>
        </p:spPr>
        <p:txBody>
          <a:bodyPr>
            <a:normAutofit/>
          </a:bodyPr>
          <a:lstStyle/>
          <a:p>
            <a:r>
              <a:rPr sz="4000" b="1"/>
              <a:t>Expected Outcome</a:t>
            </a:r>
          </a:p>
        </p:txBody>
      </p:sp>
      <p:sp>
        <p:nvSpPr>
          <p:cNvPr id="166" name="Rectangle 3"/>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67" name="Picture 4" descr="Picture 4"/>
          <p:cNvPicPr>
            <a:picLocks noChangeAspect="1"/>
          </p:cNvPicPr>
          <p:nvPr/>
        </p:nvPicPr>
        <p:blipFill>
          <a:blip r:embed="rId2"/>
          <a:stretch>
            <a:fillRect/>
          </a:stretch>
        </p:blipFill>
        <p:spPr>
          <a:xfrm>
            <a:off x="7223926" y="-22861"/>
            <a:ext cx="1916769" cy="411482"/>
          </a:xfrm>
          <a:prstGeom prst="rect">
            <a:avLst/>
          </a:prstGeom>
          <a:ln w="12700">
            <a:miter lim="400000"/>
          </a:ln>
        </p:spPr>
      </p:pic>
      <p:sp>
        <p:nvSpPr>
          <p:cNvPr id="2" name="Text Placeholder 1">
            <a:extLst>
              <a:ext uri="{FF2B5EF4-FFF2-40B4-BE49-F238E27FC236}">
                <a16:creationId xmlns:a16="http://schemas.microsoft.com/office/drawing/2014/main" id="{40EDFDEC-7212-19A3-1A37-A27913C3010A}"/>
              </a:ext>
            </a:extLst>
          </p:cNvPr>
          <p:cNvSpPr>
            <a:spLocks noGrp="1" noChangeArrowheads="1"/>
          </p:cNvSpPr>
          <p:nvPr>
            <p:ph type="body" idx="1"/>
          </p:nvPr>
        </p:nvSpPr>
        <p:spPr bwMode="auto">
          <a:xfrm>
            <a:off x="457200" y="1915505"/>
            <a:ext cx="82296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defTabSz="914400" eaLnBrk="0" fontAlgn="base" hangingPunct="0">
              <a:spcBef>
                <a:spcPct val="0"/>
              </a:spcBef>
              <a:spcAft>
                <a:spcPct val="0"/>
              </a:spcAft>
              <a:buSzTx/>
              <a:buFontTx/>
              <a:buChar char="•"/>
            </a:pPr>
            <a:r>
              <a:rPr lang="en-US" altLang="en-US" sz="1800" b="1">
                <a:solidFill>
                  <a:schemeClr val="tx1"/>
                </a:solidFill>
                <a:latin typeface="Arial" panose="020B0604020202020204" pitchFamily="34" charset="0"/>
              </a:rPr>
              <a:t>Efficient Code Repair:</a:t>
            </a:r>
            <a:r>
              <a:rPr lang="en-US" altLang="en-US" sz="1800">
                <a:solidFill>
                  <a:schemeClr val="tx1"/>
                </a:solidFill>
                <a:latin typeface="Arial" panose="020B0604020202020204" pitchFamily="34" charset="0"/>
              </a:rPr>
              <a:t> Identification and correction of syntax and logical bugs.</a:t>
            </a:r>
          </a:p>
          <a:p>
            <a:pPr marL="0" lvl="0" indent="0" algn="just" defTabSz="914400" eaLnBrk="0" fontAlgn="base" hangingPunct="0">
              <a:spcBef>
                <a:spcPct val="0"/>
              </a:spcBef>
              <a:spcAft>
                <a:spcPct val="0"/>
              </a:spcAft>
              <a:buSzTx/>
              <a:buFontTx/>
              <a:buChar char="•"/>
            </a:pPr>
            <a:endParaRPr lang="en-US" altLang="en-US" sz="1800">
              <a:solidFill>
                <a:schemeClr val="tx1"/>
              </a:solidFill>
              <a:latin typeface="Arial" panose="020B0604020202020204" pitchFamily="34" charset="0"/>
            </a:endParaRPr>
          </a:p>
          <a:p>
            <a:pPr marL="0" lvl="0" indent="0" algn="just" defTabSz="914400" eaLnBrk="0" fontAlgn="base" hangingPunct="0">
              <a:spcBef>
                <a:spcPct val="0"/>
              </a:spcBef>
              <a:spcAft>
                <a:spcPct val="0"/>
              </a:spcAft>
              <a:buSzTx/>
              <a:buFontTx/>
              <a:buChar char="•"/>
            </a:pPr>
            <a:r>
              <a:rPr lang="en-US" altLang="en-US" sz="1800" b="1">
                <a:solidFill>
                  <a:schemeClr val="tx1"/>
                </a:solidFill>
                <a:latin typeface="Arial" panose="020B0604020202020204" pitchFamily="34" charset="0"/>
              </a:rPr>
              <a:t>High-Speed Inference:</a:t>
            </a:r>
            <a:r>
              <a:rPr lang="en-US" altLang="en-US" sz="1800">
                <a:solidFill>
                  <a:schemeClr val="tx1"/>
                </a:solidFill>
                <a:latin typeface="Arial" panose="020B0604020202020204" pitchFamily="34" charset="0"/>
              </a:rPr>
              <a:t> Real-time code simplification with significantly lower latency than standard Transformers.</a:t>
            </a:r>
          </a:p>
          <a:p>
            <a:pPr marL="0" lvl="0" indent="0" algn="just" defTabSz="914400" eaLnBrk="0" fontAlgn="base" hangingPunct="0">
              <a:spcBef>
                <a:spcPct val="0"/>
              </a:spcBef>
              <a:spcAft>
                <a:spcPct val="0"/>
              </a:spcAft>
              <a:buSzTx/>
              <a:buFontTx/>
              <a:buChar char="•"/>
            </a:pPr>
            <a:endParaRPr lang="en-US" altLang="en-US" sz="1800">
              <a:solidFill>
                <a:schemeClr val="tx1"/>
              </a:solidFill>
              <a:latin typeface="Arial" panose="020B0604020202020204" pitchFamily="34" charset="0"/>
            </a:endParaRPr>
          </a:p>
          <a:p>
            <a:pPr marL="0" lvl="0" indent="0" algn="just" defTabSz="914400" eaLnBrk="0" fontAlgn="base" hangingPunct="0">
              <a:spcBef>
                <a:spcPct val="0"/>
              </a:spcBef>
              <a:spcAft>
                <a:spcPct val="0"/>
              </a:spcAft>
              <a:buSzTx/>
              <a:buFontTx/>
              <a:buChar char="•"/>
            </a:pPr>
            <a:r>
              <a:rPr lang="en-US" altLang="en-US" sz="1800" b="1">
                <a:solidFill>
                  <a:schemeClr val="tx1"/>
                </a:solidFill>
                <a:latin typeface="Arial" panose="020B0604020202020204" pitchFamily="34" charset="0"/>
              </a:rPr>
              <a:t>Hardware Accessibility:</a:t>
            </a:r>
            <a:r>
              <a:rPr lang="en-US" altLang="en-US" sz="1800">
                <a:solidFill>
                  <a:schemeClr val="tx1"/>
                </a:solidFill>
                <a:latin typeface="Arial" panose="020B0604020202020204" pitchFamily="34" charset="0"/>
              </a:rPr>
              <a:t> Reliable performance on consumer-grade hardware without high-end GPU requirements.</a:t>
            </a:r>
          </a:p>
          <a:p>
            <a:pPr marL="0" lvl="0" indent="0" algn="just" defTabSz="914400" eaLnBrk="0" fontAlgn="base" hangingPunct="0">
              <a:spcBef>
                <a:spcPct val="0"/>
              </a:spcBef>
              <a:spcAft>
                <a:spcPct val="0"/>
              </a:spcAft>
              <a:buSzTx/>
              <a:buFontTx/>
              <a:buChar char="•"/>
            </a:pPr>
            <a:endParaRPr lang="en-US" altLang="en-US" sz="1800">
              <a:solidFill>
                <a:schemeClr val="tx1"/>
              </a:solidFill>
              <a:latin typeface="Arial" panose="020B0604020202020204" pitchFamily="34" charset="0"/>
            </a:endParaRPr>
          </a:p>
          <a:p>
            <a:pPr marL="0" lvl="0" indent="0" algn="just" defTabSz="914400" eaLnBrk="0" fontAlgn="base" hangingPunct="0">
              <a:spcBef>
                <a:spcPct val="0"/>
              </a:spcBef>
              <a:spcAft>
                <a:spcPct val="0"/>
              </a:spcAft>
              <a:buSzTx/>
              <a:buFontTx/>
              <a:buChar char="•"/>
            </a:pPr>
            <a:r>
              <a:rPr lang="en-US" altLang="en-US" sz="1800" b="1">
                <a:solidFill>
                  <a:schemeClr val="tx1"/>
                </a:solidFill>
                <a:latin typeface="Arial" panose="020B0604020202020204" pitchFamily="34" charset="0"/>
              </a:rPr>
              <a:t>Architectural Validation:</a:t>
            </a:r>
            <a:r>
              <a:rPr lang="en-US" altLang="en-US" sz="1800">
                <a:solidFill>
                  <a:schemeClr val="tx1"/>
                </a:solidFill>
                <a:latin typeface="Arial" panose="020B0604020202020204" pitchFamily="34" charset="0"/>
              </a:rPr>
              <a:t> Proven feasibility of using </a:t>
            </a:r>
            <a:r>
              <a:rPr lang="en-US" altLang="en-US" sz="1800" b="1">
                <a:solidFill>
                  <a:schemeClr val="tx1"/>
                </a:solidFill>
                <a:latin typeface="Arial" panose="020B0604020202020204" pitchFamily="34" charset="0"/>
              </a:rPr>
              <a:t>BDH-GPU architecture</a:t>
            </a:r>
            <a:r>
              <a:rPr lang="en-US" altLang="en-US" sz="1800">
                <a:solidFill>
                  <a:schemeClr val="tx1"/>
                </a:solidFill>
                <a:latin typeface="Arial" panose="020B0604020202020204" pitchFamily="34" charset="0"/>
              </a:rPr>
              <a:t> for deterministic, local code tasks.</a:t>
            </a:r>
          </a:p>
          <a:p>
            <a:pPr marL="0" lvl="0" indent="0" algn="just" defTabSz="914400" eaLnBrk="0" fontAlgn="base" hangingPunct="0">
              <a:spcBef>
                <a:spcPct val="0"/>
              </a:spcBef>
              <a:spcAft>
                <a:spcPct val="0"/>
              </a:spcAft>
              <a:buSzTx/>
              <a:buFontTx/>
              <a:buChar char="•"/>
            </a:pPr>
            <a:endParaRPr lang="en-US" altLang="en-US" sz="1800">
              <a:solidFill>
                <a:schemeClr val="tx1"/>
              </a:solidFill>
              <a:latin typeface="Arial" panose="020B0604020202020204" pitchFamily="34" charset="0"/>
            </a:endParaRPr>
          </a:p>
          <a:p>
            <a:pPr marL="0" lvl="0" indent="0" algn="just" defTabSz="914400" eaLnBrk="0" fontAlgn="base" hangingPunct="0">
              <a:spcBef>
                <a:spcPct val="0"/>
              </a:spcBef>
              <a:spcAft>
                <a:spcPct val="0"/>
              </a:spcAft>
              <a:buSzTx/>
              <a:buFontTx/>
              <a:buChar char="•"/>
            </a:pPr>
            <a:r>
              <a:rPr lang="en-US" altLang="en-US" sz="1800" b="1">
                <a:solidFill>
                  <a:schemeClr val="tx1"/>
                </a:solidFill>
                <a:latin typeface="Arial" panose="020B0604020202020204" pitchFamily="34" charset="0"/>
              </a:rPr>
              <a:t>Cost-Effective Deployment:</a:t>
            </a:r>
            <a:r>
              <a:rPr lang="en-US" altLang="en-US" sz="1800">
                <a:solidFill>
                  <a:schemeClr val="tx1"/>
                </a:solidFill>
                <a:latin typeface="Arial" panose="020B0604020202020204" pitchFamily="34" charset="0"/>
              </a:rPr>
              <a:t> drastically reduced operational costs through a compact </a:t>
            </a:r>
            <a:r>
              <a:rPr lang="en-US" altLang="en-US" sz="1800" b="1">
                <a:solidFill>
                  <a:schemeClr val="tx1"/>
                </a:solidFill>
                <a:latin typeface="Arial" panose="020B0604020202020204" pitchFamily="34" charset="0"/>
              </a:rPr>
              <a:t>150M parameter</a:t>
            </a:r>
            <a:r>
              <a:rPr lang="en-US" altLang="en-US" sz="1800">
                <a:solidFill>
                  <a:schemeClr val="tx1"/>
                </a:solidFill>
                <a:latin typeface="Arial" panose="020B0604020202020204" pitchFamily="34" charset="0"/>
              </a:rPr>
              <a:t> student model.</a:t>
            </a:r>
          </a:p>
          <a:p>
            <a:pPr marL="0" lvl="0" indent="0" algn="just" defTabSz="914400" eaLnBrk="0" fontAlgn="base" hangingPunct="0">
              <a:spcBef>
                <a:spcPct val="0"/>
              </a:spcBef>
              <a:spcAft>
                <a:spcPct val="0"/>
              </a:spcAft>
              <a:buSzTx/>
              <a:buFontTx/>
              <a:buChar char="•"/>
            </a:pPr>
            <a:endParaRPr lang="en-US" altLang="en-US" sz="1800">
              <a:solidFill>
                <a:schemeClr val="tx1"/>
              </a:solidFill>
              <a:latin typeface="Arial" panose="020B0604020202020204" pitchFamily="34" charset="0"/>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itle 1"/>
          <p:cNvSpPr txBox="1">
            <a:spLocks noGrp="1"/>
          </p:cNvSpPr>
          <p:nvPr>
            <p:ph type="title"/>
          </p:nvPr>
        </p:nvSpPr>
        <p:spPr>
          <a:prstGeom prst="rect">
            <a:avLst/>
          </a:prstGeom>
        </p:spPr>
        <p:txBody>
          <a:bodyPr>
            <a:normAutofit/>
          </a:bodyPr>
          <a:lstStyle/>
          <a:p>
            <a:r>
              <a:rPr sz="4000" b="1"/>
              <a:t>Conclusion &amp; Future Scope</a:t>
            </a:r>
          </a:p>
        </p:txBody>
      </p:sp>
      <p:sp>
        <p:nvSpPr>
          <p:cNvPr id="170" name="Content Placeholder 2"/>
          <p:cNvSpPr txBox="1">
            <a:spLocks noGrp="1"/>
          </p:cNvSpPr>
          <p:nvPr>
            <p:ph type="body" idx="1"/>
          </p:nvPr>
        </p:nvSpPr>
        <p:spPr>
          <a:xfrm>
            <a:off x="457200" y="1417639"/>
            <a:ext cx="8229600" cy="4881623"/>
          </a:xfrm>
          <a:prstGeom prst="rect">
            <a:avLst/>
          </a:prstGeom>
        </p:spPr>
        <p:txBody>
          <a:bodyPr>
            <a:normAutofit/>
          </a:bodyPr>
          <a:lstStyle/>
          <a:p>
            <a:pPr marL="0" indent="0" algn="just">
              <a:buNone/>
            </a:pPr>
            <a:r>
              <a:rPr lang="en-US" sz="2400" b="1"/>
              <a:t>Conclusion : </a:t>
            </a:r>
            <a:r>
              <a:rPr lang="en-GB" sz="1800"/>
              <a:t>The project successfully validates that a 150M parameter BDH model can execute specialized code tasks with high efficiency. By employing Knowledge Distillation, the structural logic of a large Teacher LLM was effectively condensed into a lightweight framework. This proves that task-specific, post-transformer architectures provide a low-latency, cost-effective alternative to massive models for deterministic code repair.</a:t>
            </a:r>
          </a:p>
          <a:p>
            <a:pPr marL="0" indent="0" algn="just">
              <a:buNone/>
            </a:pPr>
            <a:endParaRPr lang="en-GB" sz="1800"/>
          </a:p>
          <a:p>
            <a:pPr marL="0" indent="0" algn="just">
              <a:buNone/>
            </a:pPr>
            <a:r>
              <a:rPr lang="en-US" sz="2400" b="1"/>
              <a:t>Future Scope :</a:t>
            </a:r>
          </a:p>
          <a:p>
            <a:r>
              <a:rPr lang="en-IN" sz="1800" b="1"/>
              <a:t>Multi-Language Support:</a:t>
            </a:r>
            <a:r>
              <a:rPr lang="en-IN" sz="1800"/>
              <a:t> Expanding training to include Java, C++, and JavaScript.</a:t>
            </a:r>
          </a:p>
          <a:p>
            <a:r>
              <a:rPr lang="en-IN" sz="1800" b="1"/>
              <a:t>IDE Integration:</a:t>
            </a:r>
            <a:r>
              <a:rPr lang="en-IN" sz="1800"/>
              <a:t> Developing local plugins for real-time debugging in VS Code.</a:t>
            </a:r>
          </a:p>
          <a:p>
            <a:r>
              <a:rPr lang="en-IN" sz="1800" b="1"/>
              <a:t>Enhanced Optimization:</a:t>
            </a:r>
            <a:r>
              <a:rPr lang="en-IN" sz="1800"/>
              <a:t> Implementing 4-bit quantization for mobile and edge device deployment.</a:t>
            </a:r>
          </a:p>
          <a:p>
            <a:r>
              <a:rPr lang="en-IN" sz="1800" b="1"/>
              <a:t>Complex Logic Repair:</a:t>
            </a:r>
            <a:r>
              <a:rPr lang="en-IN" sz="1800"/>
              <a:t> Scaling the distillation process to detect security vulnerabilities and algorithmic flaws.</a:t>
            </a:r>
          </a:p>
          <a:p>
            <a:pPr marL="0" indent="0">
              <a:buNone/>
            </a:pPr>
            <a:endParaRPr lang="en-GB" sz="2400"/>
          </a:p>
        </p:txBody>
      </p:sp>
      <p:sp>
        <p:nvSpPr>
          <p:cNvPr id="171" name="Rectangle 3"/>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72" name="Picture 4" descr="Picture 4"/>
          <p:cNvPicPr>
            <a:picLocks noChangeAspect="1"/>
          </p:cNvPicPr>
          <p:nvPr/>
        </p:nvPicPr>
        <p:blipFill>
          <a:blip r:embed="rId3"/>
          <a:stretch>
            <a:fillRect/>
          </a:stretch>
        </p:blipFill>
        <p:spPr>
          <a:xfrm>
            <a:off x="7240536" y="-22861"/>
            <a:ext cx="1916769" cy="411482"/>
          </a:xfrm>
          <a:prstGeom prst="rect">
            <a:avLst/>
          </a:prstGeom>
          <a:ln w="12700">
            <a:miter lim="400000"/>
          </a:ln>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6D504-86B0-7EF9-0429-F74761A94C45}"/>
            </a:ext>
          </a:extLst>
        </p:cNvPr>
        <p:cNvGrpSpPr/>
        <p:nvPr/>
      </p:nvGrpSpPr>
      <p:grpSpPr>
        <a:xfrm>
          <a:off x="0" y="0"/>
          <a:ext cx="0" cy="0"/>
          <a:chOff x="0" y="0"/>
          <a:chExt cx="0" cy="0"/>
        </a:xfrm>
      </p:grpSpPr>
      <p:sp>
        <p:nvSpPr>
          <p:cNvPr id="164" name="Title 1">
            <a:extLst>
              <a:ext uri="{FF2B5EF4-FFF2-40B4-BE49-F238E27FC236}">
                <a16:creationId xmlns:a16="http://schemas.microsoft.com/office/drawing/2014/main" id="{080F7D25-18D2-FF13-942F-A590FA44335A}"/>
              </a:ext>
            </a:extLst>
          </p:cNvPr>
          <p:cNvSpPr txBox="1">
            <a:spLocks noGrp="1"/>
          </p:cNvSpPr>
          <p:nvPr>
            <p:ph type="title"/>
          </p:nvPr>
        </p:nvSpPr>
        <p:spPr>
          <a:prstGeom prst="rect">
            <a:avLst/>
          </a:prstGeom>
        </p:spPr>
        <p:txBody>
          <a:bodyPr lIns="45719" tIns="45720" rIns="45719" bIns="45720" anchor="ctr">
            <a:normAutofit/>
          </a:bodyPr>
          <a:lstStyle/>
          <a:p>
            <a:r>
              <a:rPr lang="en-US" sz="4000" b="1"/>
              <a:t>References</a:t>
            </a:r>
            <a:r>
              <a:rPr lang="en-US"/>
              <a:t> </a:t>
            </a:r>
          </a:p>
        </p:txBody>
      </p:sp>
      <p:sp>
        <p:nvSpPr>
          <p:cNvPr id="166" name="Rectangle 3">
            <a:extLst>
              <a:ext uri="{FF2B5EF4-FFF2-40B4-BE49-F238E27FC236}">
                <a16:creationId xmlns:a16="http://schemas.microsoft.com/office/drawing/2014/main" id="{D67F0E47-26E1-8F63-3430-9AE7CA4CA635}"/>
              </a:ext>
            </a:extLst>
          </p:cNvPr>
          <p:cNvSpPr/>
          <p:nvPr/>
        </p:nvSpPr>
        <p:spPr>
          <a:xfrm>
            <a:off x="0" y="-1"/>
            <a:ext cx="9144000" cy="365762"/>
          </a:xfrm>
          <a:prstGeom prst="rect">
            <a:avLst/>
          </a:prstGeom>
          <a:solidFill>
            <a:srgbClr val="003366"/>
          </a:solidFill>
          <a:ln w="12700">
            <a:miter lim="400000"/>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167" name="Picture 4" descr="Picture 4">
            <a:extLst>
              <a:ext uri="{FF2B5EF4-FFF2-40B4-BE49-F238E27FC236}">
                <a16:creationId xmlns:a16="http://schemas.microsoft.com/office/drawing/2014/main" id="{3DBFABBB-57D4-A53A-BB90-C36E86683EC1}"/>
              </a:ext>
            </a:extLst>
          </p:cNvPr>
          <p:cNvPicPr>
            <a:picLocks noChangeAspect="1"/>
          </p:cNvPicPr>
          <p:nvPr/>
        </p:nvPicPr>
        <p:blipFill>
          <a:blip r:embed="rId2"/>
          <a:stretch>
            <a:fillRect/>
          </a:stretch>
        </p:blipFill>
        <p:spPr>
          <a:xfrm>
            <a:off x="7223926" y="-22861"/>
            <a:ext cx="1916769" cy="411482"/>
          </a:xfrm>
          <a:prstGeom prst="rect">
            <a:avLst/>
          </a:prstGeom>
          <a:ln w="12700">
            <a:miter lim="400000"/>
          </a:ln>
        </p:spPr>
      </p:pic>
      <p:sp>
        <p:nvSpPr>
          <p:cNvPr id="2" name="Text Placeholder 1">
            <a:extLst>
              <a:ext uri="{FF2B5EF4-FFF2-40B4-BE49-F238E27FC236}">
                <a16:creationId xmlns:a16="http://schemas.microsoft.com/office/drawing/2014/main" id="{0BA8E5E1-CA7A-9805-4987-C14D0DD5448B}"/>
              </a:ext>
            </a:extLst>
          </p:cNvPr>
          <p:cNvSpPr>
            <a:spLocks noGrp="1" noChangeArrowheads="1"/>
          </p:cNvSpPr>
          <p:nvPr>
            <p:ph type="body" idx="1"/>
          </p:nvPr>
        </p:nvSpPr>
        <p:spPr bwMode="auto">
          <a:xfrm>
            <a:off x="457200" y="1580258"/>
            <a:ext cx="8229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SzTx/>
              <a:buAutoNum type="arabicPeriod"/>
            </a:pPr>
            <a:r>
              <a:rPr lang="en-US" sz="1800">
                <a:solidFill>
                  <a:schemeClr val="tx1"/>
                </a:solidFill>
                <a:ea typeface="+mn-lt"/>
                <a:cs typeface="+mn-lt"/>
              </a:rPr>
              <a:t> A. Kosowski et al., "The Dragon Hatchling: The Missing Link Between the Transformer and Models of the Brain," Pathway Research, 2025. (Primary source for the BDH/BDH-GPU architecture) </a:t>
            </a:r>
            <a:endParaRPr lang="en-US" altLang="en-US" sz="1800">
              <a:solidFill>
                <a:schemeClr val="tx1"/>
              </a:solidFill>
              <a:ea typeface="+mn-lt"/>
              <a:cs typeface="+mn-lt"/>
            </a:endParaRPr>
          </a:p>
          <a:p>
            <a:pPr defTabSz="914400">
              <a:spcBef>
                <a:spcPct val="0"/>
              </a:spcBef>
              <a:spcAft>
                <a:spcPct val="0"/>
              </a:spcAft>
              <a:buSzTx/>
              <a:buAutoNum type="arabicPeriod"/>
            </a:pPr>
            <a:r>
              <a:rPr lang="en-US" sz="1800" dirty="0">
                <a:solidFill>
                  <a:schemeClr val="tx1"/>
                </a:solidFill>
                <a:ea typeface="+mn-lt"/>
                <a:cs typeface="+mn-lt"/>
              </a:rPr>
              <a:t> A. </a:t>
            </a:r>
            <a:r>
              <a:rPr lang="en-US" sz="1800" dirty="0" err="1">
                <a:solidFill>
                  <a:schemeClr val="tx1"/>
                </a:solidFill>
                <a:ea typeface="+mn-lt"/>
                <a:cs typeface="+mn-lt"/>
              </a:rPr>
              <a:t>Paszke</a:t>
            </a:r>
            <a:r>
              <a:rPr lang="en-US" sz="1800" dirty="0">
                <a:solidFill>
                  <a:schemeClr val="tx1"/>
                </a:solidFill>
                <a:ea typeface="+mn-lt"/>
                <a:cs typeface="+mn-lt"/>
              </a:rPr>
              <a:t> et al., "</a:t>
            </a:r>
            <a:r>
              <a:rPr lang="en-US" sz="1800" dirty="0" err="1">
                <a:solidFill>
                  <a:schemeClr val="tx1"/>
                </a:solidFill>
                <a:ea typeface="+mn-lt"/>
                <a:cs typeface="+mn-lt"/>
              </a:rPr>
              <a:t>PyTorch</a:t>
            </a:r>
            <a:r>
              <a:rPr lang="en-US" sz="1800" dirty="0">
                <a:solidFill>
                  <a:schemeClr val="tx1"/>
                </a:solidFill>
                <a:ea typeface="+mn-lt"/>
                <a:cs typeface="+mn-lt"/>
              </a:rPr>
              <a:t>: An Imperative Style, High Performance Deep Learning Library," Advances in Neural Information Processing Systems, vol. 32, 2019. (Software framework reference). </a:t>
            </a:r>
            <a:endParaRPr lang="en-US" altLang="en-US" sz="1800" dirty="0">
              <a:solidFill>
                <a:schemeClr val="tx1"/>
              </a:solidFill>
              <a:ea typeface="+mn-lt"/>
              <a:cs typeface="+mn-lt"/>
            </a:endParaRPr>
          </a:p>
          <a:p>
            <a:pPr defTabSz="914400">
              <a:spcBef>
                <a:spcPct val="0"/>
              </a:spcBef>
              <a:spcAft>
                <a:spcPct val="0"/>
              </a:spcAft>
              <a:buSzTx/>
              <a:buAutoNum type="arabicPeriod"/>
            </a:pPr>
            <a:r>
              <a:rPr lang="en-US" sz="1800" dirty="0">
                <a:solidFill>
                  <a:schemeClr val="tx1"/>
                </a:solidFill>
                <a:ea typeface="+mn-lt"/>
                <a:cs typeface="+mn-lt"/>
              </a:rPr>
              <a:t> A. Vaswani et al., "Attention is All You Need," Advances in Neural Information Processing Systems, vol. 30, 2017. (Baseline for Transformer comparison). </a:t>
            </a:r>
            <a:endParaRPr lang="en-US" altLang="en-US" sz="1800" dirty="0">
              <a:solidFill>
                <a:schemeClr val="tx1"/>
              </a:solidFill>
              <a:ea typeface="+mn-lt"/>
              <a:cs typeface="+mn-lt"/>
            </a:endParaRPr>
          </a:p>
          <a:p>
            <a:pPr defTabSz="914400">
              <a:spcBef>
                <a:spcPct val="0"/>
              </a:spcBef>
              <a:spcAft>
                <a:spcPct val="0"/>
              </a:spcAft>
              <a:buSzTx/>
              <a:buAutoNum type="arabicPeriod"/>
            </a:pPr>
            <a:r>
              <a:rPr lang="en-US" sz="1800" dirty="0">
                <a:solidFill>
                  <a:schemeClr val="tx1"/>
                </a:solidFill>
                <a:ea typeface="+mn-lt"/>
                <a:cs typeface="+mn-lt"/>
              </a:rPr>
              <a:t> D. O. Hebb, The Organization of Behavior, New York: Wiley &amp; Sons, 1949. (Foundation for the Hebbian learning rules used in BDH. </a:t>
            </a:r>
            <a:endParaRPr lang="en-US" altLang="en-US" sz="1800" dirty="0">
              <a:solidFill>
                <a:schemeClr val="tx1"/>
              </a:solidFill>
              <a:ea typeface="+mn-lt"/>
              <a:cs typeface="+mn-lt"/>
            </a:endParaRPr>
          </a:p>
          <a:p>
            <a:pPr defTabSz="914400">
              <a:spcBef>
                <a:spcPct val="0"/>
              </a:spcBef>
              <a:spcAft>
                <a:spcPct val="0"/>
              </a:spcAft>
              <a:buSzTx/>
              <a:buAutoNum type="arabicPeriod"/>
            </a:pPr>
            <a:r>
              <a:rPr lang="en-US" sz="1800" dirty="0">
                <a:solidFill>
                  <a:schemeClr val="tx1"/>
                </a:solidFill>
                <a:ea typeface="+mn-lt"/>
                <a:cs typeface="+mn-lt"/>
              </a:rPr>
              <a:t> D. Haziza et al., "Accelerating Transformer Inference and Training with 2:4 Activation Sparsity," </a:t>
            </a:r>
            <a:r>
              <a:rPr lang="en-US" sz="1800" dirty="0" err="1">
                <a:solidFill>
                  <a:schemeClr val="tx1"/>
                </a:solidFill>
                <a:ea typeface="+mn-lt"/>
                <a:cs typeface="+mn-lt"/>
              </a:rPr>
              <a:t>arXiv</a:t>
            </a:r>
            <a:r>
              <a:rPr lang="en-US" sz="1800" dirty="0">
                <a:solidFill>
                  <a:schemeClr val="tx1"/>
                </a:solidFill>
                <a:ea typeface="+mn-lt"/>
                <a:cs typeface="+mn-lt"/>
              </a:rPr>
              <a:t> preprint arXiv:2503.16672, 2025. (Context for sparse activation benefits). </a:t>
            </a:r>
            <a:endParaRPr lang="en-US" altLang="en-US" sz="1800" dirty="0">
              <a:solidFill>
                <a:schemeClr val="tx1"/>
              </a:solidFill>
              <a:ea typeface="+mn-lt"/>
              <a:cs typeface="+mn-lt"/>
            </a:endParaRPr>
          </a:p>
          <a:p>
            <a:pPr defTabSz="914400">
              <a:spcBef>
                <a:spcPct val="0"/>
              </a:spcBef>
              <a:spcAft>
                <a:spcPct val="0"/>
              </a:spcAft>
              <a:buSzTx/>
              <a:buAutoNum type="arabicPeriod"/>
            </a:pPr>
            <a:r>
              <a:rPr lang="en-US" sz="1800" dirty="0">
                <a:solidFill>
                  <a:schemeClr val="tx1"/>
                </a:solidFill>
                <a:ea typeface="+mn-lt"/>
                <a:cs typeface="+mn-lt"/>
              </a:rPr>
              <a:t> K. M. Choromanski et al., "Rethinking Attention with Performers," International Conference on Learning Representations (ICLR), 2021. (Provides the FAVOR+ framework for linear attention analysis). </a:t>
            </a:r>
            <a:endParaRPr lang="en-US" altLang="en-US" sz="1800" dirty="0">
              <a:solidFill>
                <a:schemeClr val="tx1"/>
              </a:solidFill>
              <a:ea typeface="+mn-lt"/>
              <a:cs typeface="+mn-lt"/>
            </a:endParaRPr>
          </a:p>
        </p:txBody>
      </p:sp>
    </p:spTree>
    <p:extLst>
      <p:ext uri="{BB962C8B-B14F-4D97-AF65-F5344CB8AC3E}">
        <p14:creationId xmlns:p14="http://schemas.microsoft.com/office/powerpoint/2010/main" val="1157191072"/>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39</TotalTime>
  <Words>1618</Words>
  <Application>Microsoft Office PowerPoint</Application>
  <PresentationFormat>On-screen Show (4:3)</PresentationFormat>
  <Paragraphs>183</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Inconsolata</vt:lpstr>
      <vt:lpstr>Montserrat Black</vt:lpstr>
      <vt:lpstr>Times New Roman</vt:lpstr>
      <vt:lpstr>Wingdings</vt:lpstr>
      <vt:lpstr>Office Theme</vt:lpstr>
      <vt:lpstr>Phase - 2 Mini Project Presentation</vt:lpstr>
      <vt:lpstr>Project Title &amp; Team</vt:lpstr>
      <vt:lpstr>Project Title &amp; Team</vt:lpstr>
      <vt:lpstr>Abstract</vt:lpstr>
      <vt:lpstr>Introduction</vt:lpstr>
      <vt:lpstr>Problem Statement</vt:lpstr>
      <vt:lpstr>Objectives</vt:lpstr>
      <vt:lpstr>Proposed System / Approach</vt:lpstr>
      <vt:lpstr>Methodology</vt:lpstr>
      <vt:lpstr>System Architecture / Block Diagram</vt:lpstr>
      <vt:lpstr>Workflow Diagram / Flowchart</vt:lpstr>
      <vt:lpstr>Hardware and Software Requirement</vt:lpstr>
      <vt:lpstr>Technology Stack</vt:lpstr>
      <vt:lpstr>Dataset Description</vt:lpstr>
      <vt:lpstr>Work Plan &amp; Timeline</vt:lpstr>
      <vt:lpstr>Expected Outcome</vt:lpstr>
      <vt:lpstr>Conclusion &amp; Future Scope</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Navaneeth S</dc:creator>
  <cp:lastModifiedBy>Atul Biju</cp:lastModifiedBy>
  <cp:revision>2</cp:revision>
  <dcterms:modified xsi:type="dcterms:W3CDTF">2026-02-09T16:49:55Z</dcterms:modified>
</cp:coreProperties>
</file>